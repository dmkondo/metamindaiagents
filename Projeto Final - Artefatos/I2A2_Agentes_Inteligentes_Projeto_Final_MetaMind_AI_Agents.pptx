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theme/theme2.xml" ContentType="application/vnd.openxmlformats-officedocument.them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  <p:sldMasterId id="2147483660" r:id="rId2"/>
  </p:sldMasterIdLst>
  <p:sldIdLst>
    <p:sldId id="262" r:id="rId3"/>
    <p:sldId id="257" r:id="rId4"/>
    <p:sldId id="259" r:id="rId5"/>
    <p:sldId id="258" r:id="rId6"/>
    <p:sldId id="260" r:id="rId7"/>
    <p:sldId id="264" r:id="rId8"/>
    <p:sldId id="261" r:id="rId9"/>
  </p:sldIdLst>
  <p:sldSz cx="12192000" cy="6858000"/>
  <p:notesSz cx="6858000" cy="9144000"/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700D81"/>
    <a:srgbClr val="24042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8900" autoAdjust="0"/>
    <p:restoredTop sz="94660"/>
  </p:normalViewPr>
  <p:slideViewPr>
    <p:cSldViewPr snapToGrid="0">
      <p:cViewPr>
        <p:scale>
          <a:sx n="100" d="100"/>
          <a:sy n="100" d="100"/>
        </p:scale>
        <p:origin x="1260" y="168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tableStyles" Target="tableStyles.xml"/><Relationship Id="rId3" Type="http://schemas.openxmlformats.org/officeDocument/2006/relationships/slide" Target="slides/slide1.xml"/><Relationship Id="rId7" Type="http://schemas.openxmlformats.org/officeDocument/2006/relationships/slide" Target="slides/slide5.xml"/><Relationship Id="rId12" Type="http://schemas.openxmlformats.org/officeDocument/2006/relationships/theme" Target="theme/theme1.xml"/><Relationship Id="rId2" Type="http://schemas.openxmlformats.org/officeDocument/2006/relationships/slideMaster" Target="slideMasters/slideMaster2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viewProps" Target="viewProps.xml"/><Relationship Id="rId5" Type="http://schemas.openxmlformats.org/officeDocument/2006/relationships/slide" Target="slides/slide3.xml"/><Relationship Id="rId10" Type="http://schemas.openxmlformats.org/officeDocument/2006/relationships/presProps" Target="presProps.xml"/><Relationship Id="rId4" Type="http://schemas.openxmlformats.org/officeDocument/2006/relationships/slide" Target="slides/slide2.xml"/><Relationship Id="rId9" Type="http://schemas.openxmlformats.org/officeDocument/2006/relationships/slide" Target="slides/slide7.xml"/></Relationships>
</file>

<file path=ppt/diagrams/_rels/data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jpg"/><Relationship Id="rId1" Type="http://schemas.openxmlformats.org/officeDocument/2006/relationships/image" Target="../media/image2.png"/></Relationships>
</file>

<file path=ppt/diagrams/_rels/data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image" Target="../media/image12.png"/></Relationships>
</file>

<file path=ppt/diagrams/_rels/drawing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jpg"/><Relationship Id="rId1" Type="http://schemas.openxmlformats.org/officeDocument/2006/relationships/image" Target="../media/image2.png"/></Relationships>
</file>

<file path=ppt/diagrams/_rels/drawing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image" Target="../media/image12.png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2993798F-31D2-4DB1-84B5-169D8F5F8CF9}" type="doc">
      <dgm:prSet loTypeId="urn:microsoft.com/office/officeart/2005/8/layout/bList2" loCatId="picture" qsTypeId="urn:microsoft.com/office/officeart/2005/8/quickstyle/simple1" qsCatId="simple" csTypeId="urn:microsoft.com/office/officeart/2005/8/colors/colorful2" csCatId="colorful" phldr="1"/>
      <dgm:spPr/>
      <dgm:t>
        <a:bodyPr/>
        <a:lstStyle/>
        <a:p>
          <a:endParaRPr lang="pt-BR"/>
        </a:p>
      </dgm:t>
    </dgm:pt>
    <dgm:pt modelId="{17F6AF30-C369-4E0B-B391-DC8612455BB5}">
      <dgm:prSet phldrT="[Texto]"/>
      <dgm:spPr/>
      <dgm:t>
        <a:bodyPr/>
        <a:lstStyle/>
        <a:p>
          <a:pPr>
            <a:buNone/>
          </a:pPr>
          <a:r>
            <a:rPr lang="pt-BR" b="1" dirty="0"/>
            <a:t>45 Minutos por Relatório</a:t>
          </a:r>
          <a:endParaRPr lang="pt-BR" dirty="0"/>
        </a:p>
      </dgm:t>
    </dgm:pt>
    <dgm:pt modelId="{3DFB88B4-956C-4DB3-AAB4-70E0A3734423}" type="parTrans" cxnId="{FA0DA59C-91D6-4A99-9D72-6D6BB190BC93}">
      <dgm:prSet/>
      <dgm:spPr/>
      <dgm:t>
        <a:bodyPr/>
        <a:lstStyle/>
        <a:p>
          <a:endParaRPr lang="pt-BR"/>
        </a:p>
      </dgm:t>
    </dgm:pt>
    <dgm:pt modelId="{B50CAA39-0238-474D-809A-A37348305EE6}" type="sibTrans" cxnId="{FA0DA59C-91D6-4A99-9D72-6D6BB190BC93}">
      <dgm:prSet/>
      <dgm:spPr/>
      <dgm:t>
        <a:bodyPr/>
        <a:lstStyle/>
        <a:p>
          <a:endParaRPr lang="pt-BR"/>
        </a:p>
      </dgm:t>
    </dgm:pt>
    <dgm:pt modelId="{04084DFD-7F98-4452-9EBF-50CACD4AA2BE}">
      <dgm:prSet phldrT="[Texto]"/>
      <dgm:spPr/>
      <dgm:t>
        <a:bodyPr/>
        <a:lstStyle/>
        <a:p>
          <a:r>
            <a:rPr lang="pt-BR" b="1" dirty="0"/>
            <a:t>19% dos Relatórios Contém erros</a:t>
          </a:r>
        </a:p>
      </dgm:t>
    </dgm:pt>
    <dgm:pt modelId="{8874016F-B7C2-4189-9D2A-84009112F4FE}" type="parTrans" cxnId="{E601EF7C-A44A-4204-965C-66F36F0935EE}">
      <dgm:prSet/>
      <dgm:spPr/>
      <dgm:t>
        <a:bodyPr/>
        <a:lstStyle/>
        <a:p>
          <a:endParaRPr lang="pt-BR"/>
        </a:p>
      </dgm:t>
    </dgm:pt>
    <dgm:pt modelId="{87459176-FDA4-4B43-AB0C-80023A014906}" type="sibTrans" cxnId="{E601EF7C-A44A-4204-965C-66F36F0935EE}">
      <dgm:prSet/>
      <dgm:spPr/>
      <dgm:t>
        <a:bodyPr/>
        <a:lstStyle/>
        <a:p>
          <a:endParaRPr lang="pt-BR"/>
        </a:p>
      </dgm:t>
    </dgm:pt>
    <dgm:pt modelId="{05ACD85B-B732-45E1-B072-A89F128E26AE}">
      <dgm:prSet phldrT="[Texto]"/>
      <dgm:spPr/>
      <dgm:t>
        <a:bodyPr/>
        <a:lstStyle/>
        <a:p>
          <a:r>
            <a:rPr lang="pt-BR" b="1" dirty="0"/>
            <a:t>Risco de Perda Real</a:t>
          </a:r>
        </a:p>
      </dgm:t>
    </dgm:pt>
    <dgm:pt modelId="{E830106F-4C17-4B7C-A9F1-35440493266F}" type="parTrans" cxnId="{ADB97DE3-2CAB-4A4F-BE0F-065E5F93C4F3}">
      <dgm:prSet/>
      <dgm:spPr/>
      <dgm:t>
        <a:bodyPr/>
        <a:lstStyle/>
        <a:p>
          <a:endParaRPr lang="pt-BR"/>
        </a:p>
      </dgm:t>
    </dgm:pt>
    <dgm:pt modelId="{DCEB3FA2-D70F-4606-B601-4B2FD076C477}" type="sibTrans" cxnId="{ADB97DE3-2CAB-4A4F-BE0F-065E5F93C4F3}">
      <dgm:prSet/>
      <dgm:spPr/>
      <dgm:t>
        <a:bodyPr/>
        <a:lstStyle/>
        <a:p>
          <a:endParaRPr lang="pt-BR"/>
        </a:p>
      </dgm:t>
    </dgm:pt>
    <dgm:pt modelId="{D1324896-2CAC-410D-A532-3ED9615A965A}">
      <dgm:prSet custT="1"/>
      <dgm:spPr/>
      <dgm:t>
        <a:bodyPr anchor="ctr"/>
        <a:lstStyle/>
        <a:p>
          <a:pPr marL="0" indent="0" algn="ctr">
            <a:buNone/>
          </a:pPr>
          <a:r>
            <a:rPr lang="pt-BR" sz="1600" b="0" dirty="0"/>
            <a:t>É o tempo médio que um colaborador gasta para preencher e submeter manualmente um único relatório de despesas</a:t>
          </a:r>
        </a:p>
      </dgm:t>
    </dgm:pt>
    <dgm:pt modelId="{9B9AE06F-6444-4157-B161-6D6507B3A572}" type="parTrans" cxnId="{94F5C617-B5EA-4459-9C99-7C09F4CF54C3}">
      <dgm:prSet/>
      <dgm:spPr/>
      <dgm:t>
        <a:bodyPr/>
        <a:lstStyle/>
        <a:p>
          <a:endParaRPr lang="pt-BR"/>
        </a:p>
      </dgm:t>
    </dgm:pt>
    <dgm:pt modelId="{D0A59600-F9F9-4EF4-8532-8E0367E22537}" type="sibTrans" cxnId="{94F5C617-B5EA-4459-9C99-7C09F4CF54C3}">
      <dgm:prSet/>
      <dgm:spPr/>
      <dgm:t>
        <a:bodyPr/>
        <a:lstStyle/>
        <a:p>
          <a:endParaRPr lang="pt-BR"/>
        </a:p>
      </dgm:t>
    </dgm:pt>
    <dgm:pt modelId="{0304D966-B973-4740-80DB-9D766492AA6F}">
      <dgm:prSet/>
      <dgm:spPr/>
      <dgm:t>
        <a:bodyPr anchor="ctr"/>
        <a:lstStyle/>
        <a:p>
          <a:pPr marL="0" indent="0" algn="ctr">
            <a:buNone/>
          </a:pPr>
          <a:r>
            <a:rPr lang="pt-BR" dirty="0"/>
            <a:t>Segundo o </a:t>
          </a:r>
          <a:r>
            <a:rPr lang="pt-BR" b="1" i="1" dirty="0"/>
            <a:t>Global Business </a:t>
          </a:r>
          <a:r>
            <a:rPr lang="pt-BR" b="1" i="1" dirty="0" err="1"/>
            <a:t>Travel</a:t>
          </a:r>
          <a:r>
            <a:rPr lang="pt-BR" b="1" i="1" dirty="0"/>
            <a:t> </a:t>
          </a:r>
          <a:r>
            <a:rPr lang="pt-BR" b="1" i="1" dirty="0" err="1"/>
            <a:t>Association</a:t>
          </a:r>
          <a:r>
            <a:rPr lang="pt-BR" dirty="0"/>
            <a:t>, quase 1 em cada 5 relatórios de despesas possui erros de digitação ou classificação.</a:t>
          </a:r>
        </a:p>
      </dgm:t>
    </dgm:pt>
    <dgm:pt modelId="{16ED3442-0B04-4D7B-A4CF-03813499C36D}" type="parTrans" cxnId="{06EF07DA-F3EC-4001-BAA1-30088863D12B}">
      <dgm:prSet/>
      <dgm:spPr/>
      <dgm:t>
        <a:bodyPr/>
        <a:lstStyle/>
        <a:p>
          <a:endParaRPr lang="pt-BR"/>
        </a:p>
      </dgm:t>
    </dgm:pt>
    <dgm:pt modelId="{E63ABDE7-FE97-401E-B559-572ED2B062FD}" type="sibTrans" cxnId="{06EF07DA-F3EC-4001-BAA1-30088863D12B}">
      <dgm:prSet/>
      <dgm:spPr/>
      <dgm:t>
        <a:bodyPr/>
        <a:lstStyle/>
        <a:p>
          <a:endParaRPr lang="pt-BR"/>
        </a:p>
      </dgm:t>
    </dgm:pt>
    <dgm:pt modelId="{4051D134-D886-4AF4-B05E-92ADD391AFF4}">
      <dgm:prSet/>
      <dgm:spPr/>
      <dgm:t>
        <a:bodyPr anchor="ctr"/>
        <a:lstStyle/>
        <a:p>
          <a:pPr algn="ctr">
            <a:buNone/>
          </a:pPr>
          <a:r>
            <a:rPr lang="pt-BR" dirty="0"/>
            <a:t>Um erro de classificação ou um anexo esquecido pode invalidar o relatório, resultando na não-conformidade fiscal e na perda total do reembolso. Isso gera frustração, desengajamento e atrito financeiro para o colaborador.</a:t>
          </a:r>
        </a:p>
      </dgm:t>
    </dgm:pt>
    <dgm:pt modelId="{DE8078D7-5A75-4A47-9206-8C4326738475}" type="parTrans" cxnId="{BA90142D-2988-47BA-AEBC-C28EB6E202B9}">
      <dgm:prSet/>
      <dgm:spPr/>
      <dgm:t>
        <a:bodyPr/>
        <a:lstStyle/>
        <a:p>
          <a:endParaRPr lang="pt-BR"/>
        </a:p>
      </dgm:t>
    </dgm:pt>
    <dgm:pt modelId="{753146AA-C574-47F4-978E-9CA56065DE37}" type="sibTrans" cxnId="{BA90142D-2988-47BA-AEBC-C28EB6E202B9}">
      <dgm:prSet/>
      <dgm:spPr/>
      <dgm:t>
        <a:bodyPr/>
        <a:lstStyle/>
        <a:p>
          <a:endParaRPr lang="pt-BR"/>
        </a:p>
      </dgm:t>
    </dgm:pt>
    <dgm:pt modelId="{7C3B3FBA-198B-4819-BBF2-EED5DCCD5111}" type="pres">
      <dgm:prSet presAssocID="{2993798F-31D2-4DB1-84B5-169D8F5F8CF9}" presName="diagram" presStyleCnt="0">
        <dgm:presLayoutVars>
          <dgm:dir/>
          <dgm:animLvl val="lvl"/>
          <dgm:resizeHandles val="exact"/>
        </dgm:presLayoutVars>
      </dgm:prSet>
      <dgm:spPr/>
    </dgm:pt>
    <dgm:pt modelId="{4CEE79F6-4492-4F23-917F-7A1F74E540FE}" type="pres">
      <dgm:prSet presAssocID="{17F6AF30-C369-4E0B-B391-DC8612455BB5}" presName="compNode" presStyleCnt="0"/>
      <dgm:spPr/>
    </dgm:pt>
    <dgm:pt modelId="{10F9ACB4-83F0-4B9F-BD28-8878E6C25407}" type="pres">
      <dgm:prSet presAssocID="{17F6AF30-C369-4E0B-B391-DC8612455BB5}" presName="childRect" presStyleLbl="bgAcc1" presStyleIdx="0" presStyleCnt="3">
        <dgm:presLayoutVars>
          <dgm:bulletEnabled val="1"/>
        </dgm:presLayoutVars>
      </dgm:prSet>
      <dgm:spPr/>
    </dgm:pt>
    <dgm:pt modelId="{F9288937-EA27-43B4-974E-DBCFD87C3938}" type="pres">
      <dgm:prSet presAssocID="{17F6AF30-C369-4E0B-B391-DC8612455BB5}" presName="parentText" presStyleLbl="node1" presStyleIdx="0" presStyleCnt="0">
        <dgm:presLayoutVars>
          <dgm:chMax val="0"/>
          <dgm:bulletEnabled val="1"/>
        </dgm:presLayoutVars>
      </dgm:prSet>
      <dgm:spPr/>
    </dgm:pt>
    <dgm:pt modelId="{4AA599BF-8105-4F46-B26E-45FD9C38D104}" type="pres">
      <dgm:prSet presAssocID="{17F6AF30-C369-4E0B-B391-DC8612455BB5}" presName="parentRect" presStyleLbl="alignNode1" presStyleIdx="0" presStyleCnt="3"/>
      <dgm:spPr/>
    </dgm:pt>
    <dgm:pt modelId="{F90299FB-5C99-497E-BD56-5DBFD60FDD3B}" type="pres">
      <dgm:prSet presAssocID="{17F6AF30-C369-4E0B-B391-DC8612455BB5}" presName="adorn" presStyleLbl="fgAccFollowNode1" presStyleIdx="0" presStyleCnt="3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a:blipFill>
      </dgm:spPr>
    </dgm:pt>
    <dgm:pt modelId="{19162101-4E48-4E3C-B868-433C60F02DAA}" type="pres">
      <dgm:prSet presAssocID="{B50CAA39-0238-474D-809A-A37348305EE6}" presName="sibTrans" presStyleLbl="sibTrans2D1" presStyleIdx="0" presStyleCnt="0"/>
      <dgm:spPr/>
    </dgm:pt>
    <dgm:pt modelId="{DD74ADC2-9D2A-4875-9B93-22372AAC4EF9}" type="pres">
      <dgm:prSet presAssocID="{04084DFD-7F98-4452-9EBF-50CACD4AA2BE}" presName="compNode" presStyleCnt="0"/>
      <dgm:spPr/>
    </dgm:pt>
    <dgm:pt modelId="{E32699B3-CF9D-4AE7-8717-B257AD478D1D}" type="pres">
      <dgm:prSet presAssocID="{04084DFD-7F98-4452-9EBF-50CACD4AA2BE}" presName="childRect" presStyleLbl="bgAcc1" presStyleIdx="1" presStyleCnt="3">
        <dgm:presLayoutVars>
          <dgm:bulletEnabled val="1"/>
        </dgm:presLayoutVars>
      </dgm:prSet>
      <dgm:spPr/>
    </dgm:pt>
    <dgm:pt modelId="{FCFA2D85-8475-44B3-A511-7C2F59019553}" type="pres">
      <dgm:prSet presAssocID="{04084DFD-7F98-4452-9EBF-50CACD4AA2BE}" presName="parentText" presStyleLbl="node1" presStyleIdx="0" presStyleCnt="0">
        <dgm:presLayoutVars>
          <dgm:chMax val="0"/>
          <dgm:bulletEnabled val="1"/>
        </dgm:presLayoutVars>
      </dgm:prSet>
      <dgm:spPr/>
    </dgm:pt>
    <dgm:pt modelId="{78B8F61D-E241-4135-A1B6-C77D103E2B9F}" type="pres">
      <dgm:prSet presAssocID="{04084DFD-7F98-4452-9EBF-50CACD4AA2BE}" presName="parentRect" presStyleLbl="alignNode1" presStyleIdx="1" presStyleCnt="3"/>
      <dgm:spPr/>
    </dgm:pt>
    <dgm:pt modelId="{4C390DE6-5885-455C-91C4-CBB9501C3DCB}" type="pres">
      <dgm:prSet presAssocID="{04084DFD-7F98-4452-9EBF-50CACD4AA2BE}" presName="adorn" presStyleLbl="fgAccFollowNode1" presStyleIdx="1" presStyleCnt="3"/>
      <dgm:spPr>
        <a:blipFill>
          <a:blip xmlns:r="http://schemas.openxmlformats.org/officeDocument/2006/relationships"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a:blipFill>
      </dgm:spPr>
    </dgm:pt>
    <dgm:pt modelId="{0D448F85-5864-4DF0-B33E-A2CC8DA5D530}" type="pres">
      <dgm:prSet presAssocID="{87459176-FDA4-4B43-AB0C-80023A014906}" presName="sibTrans" presStyleLbl="sibTrans2D1" presStyleIdx="0" presStyleCnt="0"/>
      <dgm:spPr/>
    </dgm:pt>
    <dgm:pt modelId="{80D7A23F-FE42-4DBD-BB20-8F1854FC0A47}" type="pres">
      <dgm:prSet presAssocID="{05ACD85B-B732-45E1-B072-A89F128E26AE}" presName="compNode" presStyleCnt="0"/>
      <dgm:spPr/>
    </dgm:pt>
    <dgm:pt modelId="{CB6E2387-8F9E-4C6A-9872-E060C00C20DC}" type="pres">
      <dgm:prSet presAssocID="{05ACD85B-B732-45E1-B072-A89F128E26AE}" presName="childRect" presStyleLbl="bgAcc1" presStyleIdx="2" presStyleCnt="3">
        <dgm:presLayoutVars>
          <dgm:bulletEnabled val="1"/>
        </dgm:presLayoutVars>
      </dgm:prSet>
      <dgm:spPr/>
    </dgm:pt>
    <dgm:pt modelId="{54D5C265-D4F7-4980-B2BC-175358197579}" type="pres">
      <dgm:prSet presAssocID="{05ACD85B-B732-45E1-B072-A89F128E26AE}" presName="parentText" presStyleLbl="node1" presStyleIdx="0" presStyleCnt="0">
        <dgm:presLayoutVars>
          <dgm:chMax val="0"/>
          <dgm:bulletEnabled val="1"/>
        </dgm:presLayoutVars>
      </dgm:prSet>
      <dgm:spPr/>
    </dgm:pt>
    <dgm:pt modelId="{C1F53D76-16DC-4273-BBB1-A5CF4BA2651F}" type="pres">
      <dgm:prSet presAssocID="{05ACD85B-B732-45E1-B072-A89F128E26AE}" presName="parentRect" presStyleLbl="alignNode1" presStyleIdx="2" presStyleCnt="3"/>
      <dgm:spPr/>
    </dgm:pt>
    <dgm:pt modelId="{0E8F2B76-8B85-4838-8986-4BC6F6DF84B5}" type="pres">
      <dgm:prSet presAssocID="{05ACD85B-B732-45E1-B072-A89F128E26AE}" presName="adorn" presStyleLbl="fgAccFollowNode1" presStyleIdx="2" presStyleCnt="3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a:blipFill>
      </dgm:spPr>
    </dgm:pt>
  </dgm:ptLst>
  <dgm:cxnLst>
    <dgm:cxn modelId="{473C9603-493C-4B8D-9F56-F75680B4F09C}" type="presOf" srcId="{87459176-FDA4-4B43-AB0C-80023A014906}" destId="{0D448F85-5864-4DF0-B33E-A2CC8DA5D530}" srcOrd="0" destOrd="0" presId="urn:microsoft.com/office/officeart/2005/8/layout/bList2"/>
    <dgm:cxn modelId="{B3158B16-28E2-4E8D-8933-06EFFAE5A938}" type="presOf" srcId="{17F6AF30-C369-4E0B-B391-DC8612455BB5}" destId="{F9288937-EA27-43B4-974E-DBCFD87C3938}" srcOrd="0" destOrd="0" presId="urn:microsoft.com/office/officeart/2005/8/layout/bList2"/>
    <dgm:cxn modelId="{94F5C617-B5EA-4459-9C99-7C09F4CF54C3}" srcId="{17F6AF30-C369-4E0B-B391-DC8612455BB5}" destId="{D1324896-2CAC-410D-A532-3ED9615A965A}" srcOrd="0" destOrd="0" parTransId="{9B9AE06F-6444-4157-B161-6D6507B3A572}" sibTransId="{D0A59600-F9F9-4EF4-8532-8E0367E22537}"/>
    <dgm:cxn modelId="{A4FDB826-B7F0-4ED1-9E78-36884CC08A85}" type="presOf" srcId="{B50CAA39-0238-474D-809A-A37348305EE6}" destId="{19162101-4E48-4E3C-B868-433C60F02DAA}" srcOrd="0" destOrd="0" presId="urn:microsoft.com/office/officeart/2005/8/layout/bList2"/>
    <dgm:cxn modelId="{63ECA42A-70B7-4FA2-9BFB-DD6270846B2D}" type="presOf" srcId="{04084DFD-7F98-4452-9EBF-50CACD4AA2BE}" destId="{FCFA2D85-8475-44B3-A511-7C2F59019553}" srcOrd="0" destOrd="0" presId="urn:microsoft.com/office/officeart/2005/8/layout/bList2"/>
    <dgm:cxn modelId="{BA90142D-2988-47BA-AEBC-C28EB6E202B9}" srcId="{05ACD85B-B732-45E1-B072-A89F128E26AE}" destId="{4051D134-D886-4AF4-B05E-92ADD391AFF4}" srcOrd="0" destOrd="0" parTransId="{DE8078D7-5A75-4A47-9206-8C4326738475}" sibTransId="{753146AA-C574-47F4-978E-9CA56065DE37}"/>
    <dgm:cxn modelId="{B1FCF52F-DA14-4DC4-A9B1-078D7C9890FF}" type="presOf" srcId="{D1324896-2CAC-410D-A532-3ED9615A965A}" destId="{10F9ACB4-83F0-4B9F-BD28-8878E6C25407}" srcOrd="0" destOrd="0" presId="urn:microsoft.com/office/officeart/2005/8/layout/bList2"/>
    <dgm:cxn modelId="{7B5A7273-B34D-464C-B00D-0A5D146E4392}" type="presOf" srcId="{05ACD85B-B732-45E1-B072-A89F128E26AE}" destId="{54D5C265-D4F7-4980-B2BC-175358197579}" srcOrd="0" destOrd="0" presId="urn:microsoft.com/office/officeart/2005/8/layout/bList2"/>
    <dgm:cxn modelId="{25C37754-2105-483D-BC74-E4E3941E2F99}" type="presOf" srcId="{04084DFD-7F98-4452-9EBF-50CACD4AA2BE}" destId="{78B8F61D-E241-4135-A1B6-C77D103E2B9F}" srcOrd="1" destOrd="0" presId="urn:microsoft.com/office/officeart/2005/8/layout/bList2"/>
    <dgm:cxn modelId="{E601EF7C-A44A-4204-965C-66F36F0935EE}" srcId="{2993798F-31D2-4DB1-84B5-169D8F5F8CF9}" destId="{04084DFD-7F98-4452-9EBF-50CACD4AA2BE}" srcOrd="1" destOrd="0" parTransId="{8874016F-B7C2-4189-9D2A-84009112F4FE}" sibTransId="{87459176-FDA4-4B43-AB0C-80023A014906}"/>
    <dgm:cxn modelId="{69071E9B-4D8F-4219-B887-4336EA2D49D1}" type="presOf" srcId="{4051D134-D886-4AF4-B05E-92ADD391AFF4}" destId="{CB6E2387-8F9E-4C6A-9872-E060C00C20DC}" srcOrd="0" destOrd="0" presId="urn:microsoft.com/office/officeart/2005/8/layout/bList2"/>
    <dgm:cxn modelId="{FA0DA59C-91D6-4A99-9D72-6D6BB190BC93}" srcId="{2993798F-31D2-4DB1-84B5-169D8F5F8CF9}" destId="{17F6AF30-C369-4E0B-B391-DC8612455BB5}" srcOrd="0" destOrd="0" parTransId="{3DFB88B4-956C-4DB3-AAB4-70E0A3734423}" sibTransId="{B50CAA39-0238-474D-809A-A37348305EE6}"/>
    <dgm:cxn modelId="{C41581AB-25D0-4ED7-B65C-1E28EA2C0E4F}" type="presOf" srcId="{05ACD85B-B732-45E1-B072-A89F128E26AE}" destId="{C1F53D76-16DC-4273-BBB1-A5CF4BA2651F}" srcOrd="1" destOrd="0" presId="urn:microsoft.com/office/officeart/2005/8/layout/bList2"/>
    <dgm:cxn modelId="{5C311AC0-690C-4B1C-A162-0F712BDD3F4E}" type="presOf" srcId="{17F6AF30-C369-4E0B-B391-DC8612455BB5}" destId="{4AA599BF-8105-4F46-B26E-45FD9C38D104}" srcOrd="1" destOrd="0" presId="urn:microsoft.com/office/officeart/2005/8/layout/bList2"/>
    <dgm:cxn modelId="{C137F6C1-6386-4224-9F82-7651B015400E}" type="presOf" srcId="{2993798F-31D2-4DB1-84B5-169D8F5F8CF9}" destId="{7C3B3FBA-198B-4819-BBF2-EED5DCCD5111}" srcOrd="0" destOrd="0" presId="urn:microsoft.com/office/officeart/2005/8/layout/bList2"/>
    <dgm:cxn modelId="{4DE851D6-B650-4A36-AABC-1126FFE1B9D0}" type="presOf" srcId="{0304D966-B973-4740-80DB-9D766492AA6F}" destId="{E32699B3-CF9D-4AE7-8717-B257AD478D1D}" srcOrd="0" destOrd="0" presId="urn:microsoft.com/office/officeart/2005/8/layout/bList2"/>
    <dgm:cxn modelId="{06EF07DA-F3EC-4001-BAA1-30088863D12B}" srcId="{04084DFD-7F98-4452-9EBF-50CACD4AA2BE}" destId="{0304D966-B973-4740-80DB-9D766492AA6F}" srcOrd="0" destOrd="0" parTransId="{16ED3442-0B04-4D7B-A4CF-03813499C36D}" sibTransId="{E63ABDE7-FE97-401E-B559-572ED2B062FD}"/>
    <dgm:cxn modelId="{ADB97DE3-2CAB-4A4F-BE0F-065E5F93C4F3}" srcId="{2993798F-31D2-4DB1-84B5-169D8F5F8CF9}" destId="{05ACD85B-B732-45E1-B072-A89F128E26AE}" srcOrd="2" destOrd="0" parTransId="{E830106F-4C17-4B7C-A9F1-35440493266F}" sibTransId="{DCEB3FA2-D70F-4606-B601-4B2FD076C477}"/>
    <dgm:cxn modelId="{7B2F0BCC-BB9E-42FE-BB06-6A4A83F9070A}" type="presParOf" srcId="{7C3B3FBA-198B-4819-BBF2-EED5DCCD5111}" destId="{4CEE79F6-4492-4F23-917F-7A1F74E540FE}" srcOrd="0" destOrd="0" presId="urn:microsoft.com/office/officeart/2005/8/layout/bList2"/>
    <dgm:cxn modelId="{0F5CBA4A-17A6-40EC-9B64-DCF6CDF1B899}" type="presParOf" srcId="{4CEE79F6-4492-4F23-917F-7A1F74E540FE}" destId="{10F9ACB4-83F0-4B9F-BD28-8878E6C25407}" srcOrd="0" destOrd="0" presId="urn:microsoft.com/office/officeart/2005/8/layout/bList2"/>
    <dgm:cxn modelId="{F4E01BAC-AD0C-4EE9-8FC9-8327EF0F8492}" type="presParOf" srcId="{4CEE79F6-4492-4F23-917F-7A1F74E540FE}" destId="{F9288937-EA27-43B4-974E-DBCFD87C3938}" srcOrd="1" destOrd="0" presId="urn:microsoft.com/office/officeart/2005/8/layout/bList2"/>
    <dgm:cxn modelId="{5574A077-9E5C-49A4-906C-A8A09B36F2A6}" type="presParOf" srcId="{4CEE79F6-4492-4F23-917F-7A1F74E540FE}" destId="{4AA599BF-8105-4F46-B26E-45FD9C38D104}" srcOrd="2" destOrd="0" presId="urn:microsoft.com/office/officeart/2005/8/layout/bList2"/>
    <dgm:cxn modelId="{B5D4B203-75F3-4359-B5C9-AA46C40EC504}" type="presParOf" srcId="{4CEE79F6-4492-4F23-917F-7A1F74E540FE}" destId="{F90299FB-5C99-497E-BD56-5DBFD60FDD3B}" srcOrd="3" destOrd="0" presId="urn:microsoft.com/office/officeart/2005/8/layout/bList2"/>
    <dgm:cxn modelId="{9A30B83B-2F1E-4DD6-8779-F4DB2A579434}" type="presParOf" srcId="{7C3B3FBA-198B-4819-BBF2-EED5DCCD5111}" destId="{19162101-4E48-4E3C-B868-433C60F02DAA}" srcOrd="1" destOrd="0" presId="urn:microsoft.com/office/officeart/2005/8/layout/bList2"/>
    <dgm:cxn modelId="{8EC5FEE6-73E2-4AEB-AB22-6EE902781C1D}" type="presParOf" srcId="{7C3B3FBA-198B-4819-BBF2-EED5DCCD5111}" destId="{DD74ADC2-9D2A-4875-9B93-22372AAC4EF9}" srcOrd="2" destOrd="0" presId="urn:microsoft.com/office/officeart/2005/8/layout/bList2"/>
    <dgm:cxn modelId="{83B3E72D-59B4-4E99-8374-5EF1A042F307}" type="presParOf" srcId="{DD74ADC2-9D2A-4875-9B93-22372AAC4EF9}" destId="{E32699B3-CF9D-4AE7-8717-B257AD478D1D}" srcOrd="0" destOrd="0" presId="urn:microsoft.com/office/officeart/2005/8/layout/bList2"/>
    <dgm:cxn modelId="{A23319A2-86CC-4180-AE1E-78187CF3EB6D}" type="presParOf" srcId="{DD74ADC2-9D2A-4875-9B93-22372AAC4EF9}" destId="{FCFA2D85-8475-44B3-A511-7C2F59019553}" srcOrd="1" destOrd="0" presId="urn:microsoft.com/office/officeart/2005/8/layout/bList2"/>
    <dgm:cxn modelId="{D6D5EEEB-3A26-4CF3-AEBB-48590D298626}" type="presParOf" srcId="{DD74ADC2-9D2A-4875-9B93-22372AAC4EF9}" destId="{78B8F61D-E241-4135-A1B6-C77D103E2B9F}" srcOrd="2" destOrd="0" presId="urn:microsoft.com/office/officeart/2005/8/layout/bList2"/>
    <dgm:cxn modelId="{F5C416EE-AAEA-4B52-9098-F1065D88B35D}" type="presParOf" srcId="{DD74ADC2-9D2A-4875-9B93-22372AAC4EF9}" destId="{4C390DE6-5885-455C-91C4-CBB9501C3DCB}" srcOrd="3" destOrd="0" presId="urn:microsoft.com/office/officeart/2005/8/layout/bList2"/>
    <dgm:cxn modelId="{F66F30A8-536D-4A43-8D60-F3E29D394988}" type="presParOf" srcId="{7C3B3FBA-198B-4819-BBF2-EED5DCCD5111}" destId="{0D448F85-5864-4DF0-B33E-A2CC8DA5D530}" srcOrd="3" destOrd="0" presId="urn:microsoft.com/office/officeart/2005/8/layout/bList2"/>
    <dgm:cxn modelId="{270D34C0-09A8-491F-A174-13140ECFCF69}" type="presParOf" srcId="{7C3B3FBA-198B-4819-BBF2-EED5DCCD5111}" destId="{80D7A23F-FE42-4DBD-BB20-8F1854FC0A47}" srcOrd="4" destOrd="0" presId="urn:microsoft.com/office/officeart/2005/8/layout/bList2"/>
    <dgm:cxn modelId="{0C858F4E-0DFA-4403-97D7-2EF15E8E266A}" type="presParOf" srcId="{80D7A23F-FE42-4DBD-BB20-8F1854FC0A47}" destId="{CB6E2387-8F9E-4C6A-9872-E060C00C20DC}" srcOrd="0" destOrd="0" presId="urn:microsoft.com/office/officeart/2005/8/layout/bList2"/>
    <dgm:cxn modelId="{835A6DD3-49A4-4B16-BE42-6566C0C8DFC1}" type="presParOf" srcId="{80D7A23F-FE42-4DBD-BB20-8F1854FC0A47}" destId="{54D5C265-D4F7-4980-B2BC-175358197579}" srcOrd="1" destOrd="0" presId="urn:microsoft.com/office/officeart/2005/8/layout/bList2"/>
    <dgm:cxn modelId="{813643B1-6E55-4D1F-905B-4BFC799F61DB}" type="presParOf" srcId="{80D7A23F-FE42-4DBD-BB20-8F1854FC0A47}" destId="{C1F53D76-16DC-4273-BBB1-A5CF4BA2651F}" srcOrd="2" destOrd="0" presId="urn:microsoft.com/office/officeart/2005/8/layout/bList2"/>
    <dgm:cxn modelId="{A05208B9-A3AF-4975-B687-B9439AC0D410}" type="presParOf" srcId="{80D7A23F-FE42-4DBD-BB20-8F1854FC0A47}" destId="{0E8F2B76-8B85-4838-8986-4BC6F6DF84B5}" srcOrd="3" destOrd="0" presId="urn:microsoft.com/office/officeart/2005/8/layout/bList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1B77FA11-4C6C-4A38-9A01-F10D35FEB9D2}" type="doc">
      <dgm:prSet loTypeId="urn:microsoft.com/office/officeart/2005/8/layout/vList4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pt-BR"/>
        </a:p>
      </dgm:t>
    </dgm:pt>
    <dgm:pt modelId="{1DC1AA1F-BAA7-430C-B029-6FB2411928EA}">
      <dgm:prSet phldrT="[Texto]" custT="1">
        <dgm:style>
          <a:lnRef idx="1">
            <a:schemeClr val="accent5"/>
          </a:lnRef>
          <a:fillRef idx="3">
            <a:schemeClr val="accent5"/>
          </a:fillRef>
          <a:effectRef idx="2">
            <a:schemeClr val="accent5"/>
          </a:effectRef>
          <a:fontRef idx="minor">
            <a:schemeClr val="lt1"/>
          </a:fontRef>
        </dgm:style>
      </dgm:prSet>
      <dgm:spPr/>
      <dgm:t>
        <a:bodyPr anchor="ctr"/>
        <a:lstStyle/>
        <a:p>
          <a:r>
            <a:rPr lang="pt-BR" sz="1600" b="1" dirty="0">
              <a:solidFill>
                <a:schemeClr val="bg1"/>
              </a:solidFill>
              <a:latin typeface="Inter" panose="02000503000000020004" pitchFamily="2" charset="0"/>
              <a:ea typeface="Inter" panose="02000503000000020004" pitchFamily="2" charset="0"/>
            </a:rPr>
            <a:t>Nosso Alvo</a:t>
          </a:r>
        </a:p>
      </dgm:t>
    </dgm:pt>
    <dgm:pt modelId="{248611E8-D7C7-4339-A0D2-A444FC50965E}" type="parTrans" cxnId="{97E42DDA-7295-4545-B3A3-C5B19A7204EE}">
      <dgm:prSet/>
      <dgm:spPr/>
      <dgm:t>
        <a:bodyPr/>
        <a:lstStyle/>
        <a:p>
          <a:endParaRPr lang="pt-BR"/>
        </a:p>
      </dgm:t>
    </dgm:pt>
    <dgm:pt modelId="{133CB5A9-DC2B-4928-872A-1AF6BFF68E32}" type="sibTrans" cxnId="{97E42DDA-7295-4545-B3A3-C5B19A7204EE}">
      <dgm:prSet/>
      <dgm:spPr/>
      <dgm:t>
        <a:bodyPr/>
        <a:lstStyle/>
        <a:p>
          <a:endParaRPr lang="pt-BR"/>
        </a:p>
      </dgm:t>
    </dgm:pt>
    <dgm:pt modelId="{94DB4E23-81B5-4D9B-9CFC-E6F13D212792}">
      <dgm:prSet phldrT="[Texto]" custT="1">
        <dgm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dgm:style>
      </dgm:prSet>
      <dgm:spPr>
        <a:gradFill flip="none" rotWithShape="1">
          <a:gsLst>
            <a:gs pos="0">
              <a:schemeClr val="accent5">
                <a:lumMod val="67000"/>
              </a:schemeClr>
            </a:gs>
            <a:gs pos="48000">
              <a:schemeClr val="accent5">
                <a:lumMod val="97000"/>
                <a:lumOff val="3000"/>
              </a:schemeClr>
            </a:gs>
            <a:gs pos="100000">
              <a:schemeClr val="accent5">
                <a:lumMod val="60000"/>
                <a:lumOff val="40000"/>
              </a:schemeClr>
            </a:gs>
          </a:gsLst>
          <a:lin ang="16200000" scaled="1"/>
          <a:tileRect/>
        </a:gradFill>
        <a:ln>
          <a:noFill/>
        </a:ln>
      </dgm:spPr>
      <dgm:t>
        <a:bodyPr anchor="ctr"/>
        <a:lstStyle/>
        <a:p>
          <a:pPr marL="0" indent="0">
            <a:buNone/>
          </a:pPr>
          <a:r>
            <a:rPr lang="pt-BR" sz="1600" dirty="0">
              <a:latin typeface="Inter" panose="02000503000000020004" pitchFamily="2" charset="0"/>
              <a:ea typeface="Inter" panose="02000503000000020004" pitchFamily="2" charset="0"/>
            </a:rPr>
            <a:t>Empresas com equipes externas, consultores, executivos em viagem ou qualquer profissional que precise de ajuda para executar seu trabalho.</a:t>
          </a:r>
        </a:p>
      </dgm:t>
    </dgm:pt>
    <dgm:pt modelId="{01AC2C81-7484-42C0-8778-BC879D3F2CD3}" type="parTrans" cxnId="{87AB11FC-081C-4973-B883-2BF4AF04E084}">
      <dgm:prSet/>
      <dgm:spPr/>
      <dgm:t>
        <a:bodyPr/>
        <a:lstStyle/>
        <a:p>
          <a:endParaRPr lang="pt-BR"/>
        </a:p>
      </dgm:t>
    </dgm:pt>
    <dgm:pt modelId="{3C9BFBDC-3952-4CD4-A571-A224E9FFDE67}" type="sibTrans" cxnId="{87AB11FC-081C-4973-B883-2BF4AF04E084}">
      <dgm:prSet/>
      <dgm:spPr/>
      <dgm:t>
        <a:bodyPr/>
        <a:lstStyle/>
        <a:p>
          <a:endParaRPr lang="pt-BR"/>
        </a:p>
      </dgm:t>
    </dgm:pt>
    <dgm:pt modelId="{49230B5A-8CAC-45E5-8606-386C4CE0B9E9}">
      <dgm:prSet phldrT="[Texto]" custT="1">
        <dgm:style>
          <a:lnRef idx="0">
            <a:schemeClr val="accent5"/>
          </a:lnRef>
          <a:fillRef idx="3">
            <a:schemeClr val="accent5"/>
          </a:fillRef>
          <a:effectRef idx="3">
            <a:schemeClr val="accent5"/>
          </a:effectRef>
          <a:fontRef idx="minor">
            <a:schemeClr val="lt1"/>
          </a:fontRef>
        </dgm:style>
      </dgm:prSet>
      <dgm:spPr/>
      <dgm:t>
        <a:bodyPr anchor="ctr"/>
        <a:lstStyle/>
        <a:p>
          <a:r>
            <a:rPr lang="pt-BR" sz="1600" b="1" dirty="0">
              <a:solidFill>
                <a:schemeClr val="bg1"/>
              </a:solidFill>
              <a:latin typeface="Inter" panose="02000503000000020004" pitchFamily="2" charset="0"/>
              <a:ea typeface="Inter" panose="02000503000000020004" pitchFamily="2" charset="0"/>
            </a:rPr>
            <a:t>Tamanho do Mercado</a:t>
          </a:r>
        </a:p>
      </dgm:t>
    </dgm:pt>
    <dgm:pt modelId="{16F95F3C-DE4F-4B84-BA07-D33754B001A9}" type="parTrans" cxnId="{7CAD696F-753F-4F76-8C52-AB0DA3D49FB4}">
      <dgm:prSet/>
      <dgm:spPr/>
      <dgm:t>
        <a:bodyPr/>
        <a:lstStyle/>
        <a:p>
          <a:endParaRPr lang="pt-BR"/>
        </a:p>
      </dgm:t>
    </dgm:pt>
    <dgm:pt modelId="{005F4A53-DBFA-45B4-AE63-223B1ECE2A2B}" type="sibTrans" cxnId="{7CAD696F-753F-4F76-8C52-AB0DA3D49FB4}">
      <dgm:prSet/>
      <dgm:spPr/>
      <dgm:t>
        <a:bodyPr/>
        <a:lstStyle/>
        <a:p>
          <a:endParaRPr lang="pt-BR"/>
        </a:p>
      </dgm:t>
    </dgm:pt>
    <dgm:pt modelId="{EE7F4D8A-20D7-4469-A777-56170FEA19C9}">
      <dgm:prSet phldrT="[Texto]" custT="1">
        <dgm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dgm:style>
      </dgm:prSet>
      <dgm:spPr>
        <a:gradFill flip="none" rotWithShape="1">
          <a:gsLst>
            <a:gs pos="0">
              <a:schemeClr val="accent5">
                <a:lumMod val="67000"/>
              </a:schemeClr>
            </a:gs>
            <a:gs pos="48000">
              <a:schemeClr val="accent5">
                <a:lumMod val="97000"/>
                <a:lumOff val="3000"/>
              </a:schemeClr>
            </a:gs>
            <a:gs pos="100000">
              <a:schemeClr val="accent5">
                <a:lumMod val="60000"/>
                <a:lumOff val="40000"/>
              </a:schemeClr>
            </a:gs>
          </a:gsLst>
          <a:lin ang="16200000" scaled="1"/>
          <a:tileRect/>
        </a:gradFill>
        <a:ln>
          <a:noFill/>
        </a:ln>
      </dgm:spPr>
      <dgm:t>
        <a:bodyPr anchor="ctr"/>
        <a:lstStyle/>
        <a:p>
          <a:pPr marL="0" indent="0">
            <a:buNone/>
          </a:pPr>
          <a:r>
            <a:rPr lang="pt-BR" sz="1600" dirty="0">
              <a:latin typeface="Inter" panose="02000503000000020004" pitchFamily="2" charset="0"/>
              <a:ea typeface="Inter" panose="02000503000000020004" pitchFamily="2" charset="0"/>
            </a:rPr>
            <a:t>O mercado de software de gestão de despesas em plena expansão, projetado para alcançar US$ 6.9 bilhões globalmente até 2028. No Brasil, a corrida pela transformação digital e eficiência operacional coloca nossa solução no centro de uma demanda crescente e imediata.</a:t>
          </a:r>
        </a:p>
      </dgm:t>
    </dgm:pt>
    <dgm:pt modelId="{B31377F6-1FBE-4929-8269-955B1300BD43}" type="parTrans" cxnId="{8935A618-53D4-4972-95C9-C4965C669F8E}">
      <dgm:prSet/>
      <dgm:spPr/>
      <dgm:t>
        <a:bodyPr/>
        <a:lstStyle/>
        <a:p>
          <a:endParaRPr lang="pt-BR"/>
        </a:p>
      </dgm:t>
    </dgm:pt>
    <dgm:pt modelId="{4C1DBA15-678B-4D8F-91A7-7282C7FC4F86}" type="sibTrans" cxnId="{8935A618-53D4-4972-95C9-C4965C669F8E}">
      <dgm:prSet/>
      <dgm:spPr/>
      <dgm:t>
        <a:bodyPr/>
        <a:lstStyle/>
        <a:p>
          <a:endParaRPr lang="pt-BR"/>
        </a:p>
      </dgm:t>
    </dgm:pt>
    <dgm:pt modelId="{5F185760-0369-49D3-9670-6BAA652E67F2}" type="pres">
      <dgm:prSet presAssocID="{1B77FA11-4C6C-4A38-9A01-F10D35FEB9D2}" presName="linear" presStyleCnt="0">
        <dgm:presLayoutVars>
          <dgm:dir/>
          <dgm:resizeHandles val="exact"/>
        </dgm:presLayoutVars>
      </dgm:prSet>
      <dgm:spPr/>
    </dgm:pt>
    <dgm:pt modelId="{FD1A91FD-2D67-4E22-99EC-B77CCD54EC44}" type="pres">
      <dgm:prSet presAssocID="{1DC1AA1F-BAA7-430C-B029-6FB2411928EA}" presName="comp" presStyleCnt="0"/>
      <dgm:spPr/>
    </dgm:pt>
    <dgm:pt modelId="{D7401C2F-B208-4E6E-8413-441B5E23546E}" type="pres">
      <dgm:prSet presAssocID="{1DC1AA1F-BAA7-430C-B029-6FB2411928EA}" presName="box" presStyleLbl="node1" presStyleIdx="0" presStyleCnt="2"/>
      <dgm:spPr/>
    </dgm:pt>
    <dgm:pt modelId="{3B7CD6C7-7C25-4CFC-8C65-A7A94A8A33AA}" type="pres">
      <dgm:prSet presAssocID="{1DC1AA1F-BAA7-430C-B029-6FB2411928EA}" presName="img" presStyleLbl="fgImgPlace1" presStyleIdx="0" presStyleCnt="2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a:blipFill>
        <a:ln>
          <a:noFill/>
        </a:ln>
      </dgm:spPr>
    </dgm:pt>
    <dgm:pt modelId="{E58561D7-76C0-479A-99EA-BF5B3EF6C749}" type="pres">
      <dgm:prSet presAssocID="{1DC1AA1F-BAA7-430C-B029-6FB2411928EA}" presName="text" presStyleLbl="node1" presStyleIdx="0" presStyleCnt="2">
        <dgm:presLayoutVars>
          <dgm:bulletEnabled val="1"/>
        </dgm:presLayoutVars>
      </dgm:prSet>
      <dgm:spPr/>
    </dgm:pt>
    <dgm:pt modelId="{E9445BFA-80F9-42A2-BF50-F54300E83788}" type="pres">
      <dgm:prSet presAssocID="{133CB5A9-DC2B-4928-872A-1AF6BFF68E32}" presName="spacer" presStyleCnt="0"/>
      <dgm:spPr/>
    </dgm:pt>
    <dgm:pt modelId="{7A5A189F-EEA0-4AAD-9B4C-EC6D11A73699}" type="pres">
      <dgm:prSet presAssocID="{49230B5A-8CAC-45E5-8606-386C4CE0B9E9}" presName="comp" presStyleCnt="0"/>
      <dgm:spPr/>
    </dgm:pt>
    <dgm:pt modelId="{122BD15B-2B18-4121-967C-7FE2AE86D693}" type="pres">
      <dgm:prSet presAssocID="{49230B5A-8CAC-45E5-8606-386C4CE0B9E9}" presName="box" presStyleLbl="node1" presStyleIdx="1" presStyleCnt="2"/>
      <dgm:spPr/>
    </dgm:pt>
    <dgm:pt modelId="{8B7A7618-6040-4F38-BBB9-B7972F3CD21E}" type="pres">
      <dgm:prSet presAssocID="{49230B5A-8CAC-45E5-8606-386C4CE0B9E9}" presName="img" presStyleLbl="fgImgPlace1" presStyleIdx="1" presStyleCnt="2"/>
      <dgm:spPr>
        <a:blipFill>
          <a:blip xmlns:r="http://schemas.openxmlformats.org/officeDocument/2006/relationships"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a:blipFill>
        <a:ln>
          <a:noFill/>
        </a:ln>
      </dgm:spPr>
    </dgm:pt>
    <dgm:pt modelId="{9C7F367C-C2B7-4A7B-A2F6-616CA65B97AF}" type="pres">
      <dgm:prSet presAssocID="{49230B5A-8CAC-45E5-8606-386C4CE0B9E9}" presName="text" presStyleLbl="node1" presStyleIdx="1" presStyleCnt="2">
        <dgm:presLayoutVars>
          <dgm:bulletEnabled val="1"/>
        </dgm:presLayoutVars>
      </dgm:prSet>
      <dgm:spPr/>
    </dgm:pt>
  </dgm:ptLst>
  <dgm:cxnLst>
    <dgm:cxn modelId="{1A11DC0B-CAAD-44C2-BF80-619B5B5C518E}" type="presOf" srcId="{94DB4E23-81B5-4D9B-9CFC-E6F13D212792}" destId="{D7401C2F-B208-4E6E-8413-441B5E23546E}" srcOrd="0" destOrd="1" presId="urn:microsoft.com/office/officeart/2005/8/layout/vList4"/>
    <dgm:cxn modelId="{8935A618-53D4-4972-95C9-C4965C669F8E}" srcId="{49230B5A-8CAC-45E5-8606-386C4CE0B9E9}" destId="{EE7F4D8A-20D7-4469-A777-56170FEA19C9}" srcOrd="0" destOrd="0" parTransId="{B31377F6-1FBE-4929-8269-955B1300BD43}" sibTransId="{4C1DBA15-678B-4D8F-91A7-7282C7FC4F86}"/>
    <dgm:cxn modelId="{07AB9C3C-5BE6-4455-9586-893EC0D8DF03}" type="presOf" srcId="{EE7F4D8A-20D7-4469-A777-56170FEA19C9}" destId="{122BD15B-2B18-4121-967C-7FE2AE86D693}" srcOrd="0" destOrd="1" presId="urn:microsoft.com/office/officeart/2005/8/layout/vList4"/>
    <dgm:cxn modelId="{81C8C061-B85A-4747-AAC2-E3DA4B3F2B1E}" type="presOf" srcId="{94DB4E23-81B5-4D9B-9CFC-E6F13D212792}" destId="{E58561D7-76C0-479A-99EA-BF5B3EF6C749}" srcOrd="1" destOrd="1" presId="urn:microsoft.com/office/officeart/2005/8/layout/vList4"/>
    <dgm:cxn modelId="{B907CF6E-78DB-44B3-89EA-6136CD2B71DD}" type="presOf" srcId="{EE7F4D8A-20D7-4469-A777-56170FEA19C9}" destId="{9C7F367C-C2B7-4A7B-A2F6-616CA65B97AF}" srcOrd="1" destOrd="1" presId="urn:microsoft.com/office/officeart/2005/8/layout/vList4"/>
    <dgm:cxn modelId="{7CAD696F-753F-4F76-8C52-AB0DA3D49FB4}" srcId="{1B77FA11-4C6C-4A38-9A01-F10D35FEB9D2}" destId="{49230B5A-8CAC-45E5-8606-386C4CE0B9E9}" srcOrd="1" destOrd="0" parTransId="{16F95F3C-DE4F-4B84-BA07-D33754B001A9}" sibTransId="{005F4A53-DBFA-45B4-AE63-223B1ECE2A2B}"/>
    <dgm:cxn modelId="{F94DD66F-9F44-409C-8E44-DE97BA06CA94}" type="presOf" srcId="{1B77FA11-4C6C-4A38-9A01-F10D35FEB9D2}" destId="{5F185760-0369-49D3-9670-6BAA652E67F2}" srcOrd="0" destOrd="0" presId="urn:microsoft.com/office/officeart/2005/8/layout/vList4"/>
    <dgm:cxn modelId="{72F99554-D64E-42F1-8E12-C1026B831030}" type="presOf" srcId="{1DC1AA1F-BAA7-430C-B029-6FB2411928EA}" destId="{D7401C2F-B208-4E6E-8413-441B5E23546E}" srcOrd="0" destOrd="0" presId="urn:microsoft.com/office/officeart/2005/8/layout/vList4"/>
    <dgm:cxn modelId="{97E42DDA-7295-4545-B3A3-C5B19A7204EE}" srcId="{1B77FA11-4C6C-4A38-9A01-F10D35FEB9D2}" destId="{1DC1AA1F-BAA7-430C-B029-6FB2411928EA}" srcOrd="0" destOrd="0" parTransId="{248611E8-D7C7-4339-A0D2-A444FC50965E}" sibTransId="{133CB5A9-DC2B-4928-872A-1AF6BFF68E32}"/>
    <dgm:cxn modelId="{BF8323E7-CCA6-40E3-8AAB-4203663CA61D}" type="presOf" srcId="{1DC1AA1F-BAA7-430C-B029-6FB2411928EA}" destId="{E58561D7-76C0-479A-99EA-BF5B3EF6C749}" srcOrd="1" destOrd="0" presId="urn:microsoft.com/office/officeart/2005/8/layout/vList4"/>
    <dgm:cxn modelId="{F9C831E9-EDD6-44C8-AFA3-25BFE8E5BFE0}" type="presOf" srcId="{49230B5A-8CAC-45E5-8606-386C4CE0B9E9}" destId="{122BD15B-2B18-4121-967C-7FE2AE86D693}" srcOrd="0" destOrd="0" presId="urn:microsoft.com/office/officeart/2005/8/layout/vList4"/>
    <dgm:cxn modelId="{96D9FCEB-0226-4A2A-8CFA-67C7450062E4}" type="presOf" srcId="{49230B5A-8CAC-45E5-8606-386C4CE0B9E9}" destId="{9C7F367C-C2B7-4A7B-A2F6-616CA65B97AF}" srcOrd="1" destOrd="0" presId="urn:microsoft.com/office/officeart/2005/8/layout/vList4"/>
    <dgm:cxn modelId="{87AB11FC-081C-4973-B883-2BF4AF04E084}" srcId="{1DC1AA1F-BAA7-430C-B029-6FB2411928EA}" destId="{94DB4E23-81B5-4D9B-9CFC-E6F13D212792}" srcOrd="0" destOrd="0" parTransId="{01AC2C81-7484-42C0-8778-BC879D3F2CD3}" sibTransId="{3C9BFBDC-3952-4CD4-A571-A224E9FFDE67}"/>
    <dgm:cxn modelId="{A19E789F-7873-441D-BA04-A599772CC493}" type="presParOf" srcId="{5F185760-0369-49D3-9670-6BAA652E67F2}" destId="{FD1A91FD-2D67-4E22-99EC-B77CCD54EC44}" srcOrd="0" destOrd="0" presId="urn:microsoft.com/office/officeart/2005/8/layout/vList4"/>
    <dgm:cxn modelId="{2A28A291-7600-4775-8BDC-08609F2D061C}" type="presParOf" srcId="{FD1A91FD-2D67-4E22-99EC-B77CCD54EC44}" destId="{D7401C2F-B208-4E6E-8413-441B5E23546E}" srcOrd="0" destOrd="0" presId="urn:microsoft.com/office/officeart/2005/8/layout/vList4"/>
    <dgm:cxn modelId="{9739C813-B93C-4ABB-9157-018F13F2DCFF}" type="presParOf" srcId="{FD1A91FD-2D67-4E22-99EC-B77CCD54EC44}" destId="{3B7CD6C7-7C25-4CFC-8C65-A7A94A8A33AA}" srcOrd="1" destOrd="0" presId="urn:microsoft.com/office/officeart/2005/8/layout/vList4"/>
    <dgm:cxn modelId="{140967FA-D8A2-4AB1-ACF2-4BDEBC839828}" type="presParOf" srcId="{FD1A91FD-2D67-4E22-99EC-B77CCD54EC44}" destId="{E58561D7-76C0-479A-99EA-BF5B3EF6C749}" srcOrd="2" destOrd="0" presId="urn:microsoft.com/office/officeart/2005/8/layout/vList4"/>
    <dgm:cxn modelId="{616F933A-C78E-449D-AA87-CB47CB87EB0D}" type="presParOf" srcId="{5F185760-0369-49D3-9670-6BAA652E67F2}" destId="{E9445BFA-80F9-42A2-BF50-F54300E83788}" srcOrd="1" destOrd="0" presId="urn:microsoft.com/office/officeart/2005/8/layout/vList4"/>
    <dgm:cxn modelId="{082DF1A5-D373-4F89-BB7B-8D6E2EC252CF}" type="presParOf" srcId="{5F185760-0369-49D3-9670-6BAA652E67F2}" destId="{7A5A189F-EEA0-4AAD-9B4C-EC6D11A73699}" srcOrd="2" destOrd="0" presId="urn:microsoft.com/office/officeart/2005/8/layout/vList4"/>
    <dgm:cxn modelId="{4C29F718-9043-46A3-8BB0-4EB42C864CC8}" type="presParOf" srcId="{7A5A189F-EEA0-4AAD-9B4C-EC6D11A73699}" destId="{122BD15B-2B18-4121-967C-7FE2AE86D693}" srcOrd="0" destOrd="0" presId="urn:microsoft.com/office/officeart/2005/8/layout/vList4"/>
    <dgm:cxn modelId="{C13C9F3A-88BC-4E23-BC62-3D940AF025D3}" type="presParOf" srcId="{7A5A189F-EEA0-4AAD-9B4C-EC6D11A73699}" destId="{8B7A7618-6040-4F38-BBB9-B7972F3CD21E}" srcOrd="1" destOrd="0" presId="urn:microsoft.com/office/officeart/2005/8/layout/vList4"/>
    <dgm:cxn modelId="{5D188977-E33F-4EC6-9E47-FFD5C1DDE178}" type="presParOf" srcId="{7A5A189F-EEA0-4AAD-9B4C-EC6D11A73699}" destId="{9C7F367C-C2B7-4A7B-A2F6-616CA65B97AF}" srcOrd="2" destOrd="0" presId="urn:microsoft.com/office/officeart/2005/8/layout/vList4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10F9ACB4-83F0-4B9F-BD28-8878E6C25407}">
      <dsp:nvSpPr>
        <dsp:cNvPr id="0" name=""/>
        <dsp:cNvSpPr/>
      </dsp:nvSpPr>
      <dsp:spPr>
        <a:xfrm>
          <a:off x="6105" y="410561"/>
          <a:ext cx="2636964" cy="1968437"/>
        </a:xfrm>
        <a:prstGeom prst="round2SameRect">
          <a:avLst>
            <a:gd name="adj1" fmla="val 8000"/>
            <a:gd name="adj2" fmla="val 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0320" tIns="60960" rIns="20320" bIns="20320" numCol="1" spcCol="1270" anchor="ctr" anchorCtr="0">
          <a:noAutofit/>
        </a:bodyPr>
        <a:lstStyle/>
        <a:p>
          <a:pPr marL="0" lvl="1" indent="0" algn="ctr" defTabSz="711200">
            <a:lnSpc>
              <a:spcPct val="90000"/>
            </a:lnSpc>
            <a:spcBef>
              <a:spcPct val="0"/>
            </a:spcBef>
            <a:spcAft>
              <a:spcPct val="15000"/>
            </a:spcAft>
            <a:buNone/>
          </a:pPr>
          <a:r>
            <a:rPr lang="pt-BR" sz="1600" b="0" kern="1200" dirty="0"/>
            <a:t>É o tempo médio que um colaborador gasta para preencher e submeter manualmente um único relatório de despesas</a:t>
          </a:r>
        </a:p>
      </dsp:txBody>
      <dsp:txXfrm>
        <a:off x="52228" y="456684"/>
        <a:ext cx="2544718" cy="1922314"/>
      </dsp:txXfrm>
    </dsp:sp>
    <dsp:sp modelId="{4AA599BF-8105-4F46-B26E-45FD9C38D104}">
      <dsp:nvSpPr>
        <dsp:cNvPr id="0" name=""/>
        <dsp:cNvSpPr/>
      </dsp:nvSpPr>
      <dsp:spPr>
        <a:xfrm>
          <a:off x="6105" y="2378999"/>
          <a:ext cx="2636964" cy="846428"/>
        </a:xfrm>
        <a:prstGeom prst="rect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0" tIns="0" rIns="25400" bIns="0" numCol="1" spcCol="1270" anchor="ctr" anchorCtr="0">
          <a:noAutofit/>
        </a:bodyPr>
        <a:lstStyle/>
        <a:p>
          <a:pPr marL="0" lvl="0" indent="0" algn="l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t-BR" sz="2000" b="1" kern="1200" dirty="0"/>
            <a:t>45 Minutos por Relatório</a:t>
          </a:r>
          <a:endParaRPr lang="pt-BR" sz="2000" kern="1200" dirty="0"/>
        </a:p>
      </dsp:txBody>
      <dsp:txXfrm>
        <a:off x="6105" y="2378999"/>
        <a:ext cx="1857016" cy="846428"/>
      </dsp:txXfrm>
    </dsp:sp>
    <dsp:sp modelId="{F90299FB-5C99-497E-BD56-5DBFD60FDD3B}">
      <dsp:nvSpPr>
        <dsp:cNvPr id="0" name=""/>
        <dsp:cNvSpPr/>
      </dsp:nvSpPr>
      <dsp:spPr>
        <a:xfrm>
          <a:off x="1937717" y="2513446"/>
          <a:ext cx="922937" cy="922937"/>
        </a:xfrm>
        <a:prstGeom prst="ellipse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a:blipFill>
        <a:ln w="12700" cap="flat" cmpd="sng" algn="ctr">
          <a:solidFill>
            <a:schemeClr val="accent2">
              <a:tint val="40000"/>
              <a:alpha val="9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E32699B3-CF9D-4AE7-8717-B257AD478D1D}">
      <dsp:nvSpPr>
        <dsp:cNvPr id="0" name=""/>
        <dsp:cNvSpPr/>
      </dsp:nvSpPr>
      <dsp:spPr>
        <a:xfrm>
          <a:off x="3089307" y="410561"/>
          <a:ext cx="2636964" cy="1968437"/>
        </a:xfrm>
        <a:prstGeom prst="round2SameRect">
          <a:avLst>
            <a:gd name="adj1" fmla="val 8000"/>
            <a:gd name="adj2" fmla="val 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2">
              <a:hueOff val="-727682"/>
              <a:satOff val="-41964"/>
              <a:lumOff val="4314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7780" tIns="53340" rIns="17780" bIns="17780" numCol="1" spcCol="1270" anchor="ctr" anchorCtr="0">
          <a:noAutofit/>
        </a:bodyPr>
        <a:lstStyle/>
        <a:p>
          <a:pPr marL="0" lvl="1" indent="0" algn="ctr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None/>
          </a:pPr>
          <a:r>
            <a:rPr lang="pt-BR" sz="1400" kern="1200" dirty="0"/>
            <a:t>Segundo o </a:t>
          </a:r>
          <a:r>
            <a:rPr lang="pt-BR" sz="1400" b="1" i="1" kern="1200" dirty="0"/>
            <a:t>Global Business </a:t>
          </a:r>
          <a:r>
            <a:rPr lang="pt-BR" sz="1400" b="1" i="1" kern="1200" dirty="0" err="1"/>
            <a:t>Travel</a:t>
          </a:r>
          <a:r>
            <a:rPr lang="pt-BR" sz="1400" b="1" i="1" kern="1200" dirty="0"/>
            <a:t> </a:t>
          </a:r>
          <a:r>
            <a:rPr lang="pt-BR" sz="1400" b="1" i="1" kern="1200" dirty="0" err="1"/>
            <a:t>Association</a:t>
          </a:r>
          <a:r>
            <a:rPr lang="pt-BR" sz="1400" kern="1200" dirty="0"/>
            <a:t>, quase 1 em cada 5 relatórios de despesas possui erros de digitação ou classificação.</a:t>
          </a:r>
        </a:p>
      </dsp:txBody>
      <dsp:txXfrm>
        <a:off x="3135430" y="456684"/>
        <a:ext cx="2544718" cy="1922314"/>
      </dsp:txXfrm>
    </dsp:sp>
    <dsp:sp modelId="{78B8F61D-E241-4135-A1B6-C77D103E2B9F}">
      <dsp:nvSpPr>
        <dsp:cNvPr id="0" name=""/>
        <dsp:cNvSpPr/>
      </dsp:nvSpPr>
      <dsp:spPr>
        <a:xfrm>
          <a:off x="3089307" y="2378999"/>
          <a:ext cx="2636964" cy="846428"/>
        </a:xfrm>
        <a:prstGeom prst="rect">
          <a:avLst/>
        </a:prstGeom>
        <a:solidFill>
          <a:schemeClr val="accent2">
            <a:hueOff val="-727682"/>
            <a:satOff val="-41964"/>
            <a:lumOff val="4314"/>
            <a:alphaOff val="0"/>
          </a:schemeClr>
        </a:solidFill>
        <a:ln w="12700" cap="flat" cmpd="sng" algn="ctr">
          <a:solidFill>
            <a:schemeClr val="accent2">
              <a:hueOff val="-727682"/>
              <a:satOff val="-41964"/>
              <a:lumOff val="4314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0" tIns="0" rIns="25400" bIns="0" numCol="1" spcCol="1270" anchor="ctr" anchorCtr="0">
          <a:noAutofit/>
        </a:bodyPr>
        <a:lstStyle/>
        <a:p>
          <a:pPr marL="0" lvl="0" indent="0" algn="l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t-BR" sz="2000" b="1" kern="1200" dirty="0"/>
            <a:t>19% dos Relatórios Contém erros</a:t>
          </a:r>
        </a:p>
      </dsp:txBody>
      <dsp:txXfrm>
        <a:off x="3089307" y="2378999"/>
        <a:ext cx="1857016" cy="846428"/>
      </dsp:txXfrm>
    </dsp:sp>
    <dsp:sp modelId="{4C390DE6-5885-455C-91C4-CBB9501C3DCB}">
      <dsp:nvSpPr>
        <dsp:cNvPr id="0" name=""/>
        <dsp:cNvSpPr/>
      </dsp:nvSpPr>
      <dsp:spPr>
        <a:xfrm>
          <a:off x="5020919" y="2513446"/>
          <a:ext cx="922937" cy="922937"/>
        </a:xfrm>
        <a:prstGeom prst="ellipse">
          <a:avLst/>
        </a:prstGeom>
        <a:blipFill>
          <a:blip xmlns:r="http://schemas.openxmlformats.org/officeDocument/2006/relationships"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a:blipFill>
        <a:ln w="12700" cap="flat" cmpd="sng" algn="ctr">
          <a:solidFill>
            <a:schemeClr val="accent2">
              <a:tint val="40000"/>
              <a:alpha val="90000"/>
              <a:hueOff val="-424613"/>
              <a:satOff val="-37673"/>
              <a:lumOff val="-385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CB6E2387-8F9E-4C6A-9872-E060C00C20DC}">
      <dsp:nvSpPr>
        <dsp:cNvPr id="0" name=""/>
        <dsp:cNvSpPr/>
      </dsp:nvSpPr>
      <dsp:spPr>
        <a:xfrm>
          <a:off x="6172508" y="410561"/>
          <a:ext cx="2636964" cy="1968437"/>
        </a:xfrm>
        <a:prstGeom prst="round2SameRect">
          <a:avLst>
            <a:gd name="adj1" fmla="val 8000"/>
            <a:gd name="adj2" fmla="val 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2">
              <a:hueOff val="-1455363"/>
              <a:satOff val="-83928"/>
              <a:lumOff val="8628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7780" tIns="53340" rIns="17780" bIns="17780" numCol="1" spcCol="1270" anchor="ctr" anchorCtr="0">
          <a:noAutofit/>
        </a:bodyPr>
        <a:lstStyle/>
        <a:p>
          <a:pPr marL="114300" lvl="1" indent="-114300" algn="ctr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None/>
          </a:pPr>
          <a:r>
            <a:rPr lang="pt-BR" sz="1400" kern="1200" dirty="0"/>
            <a:t>Um erro de classificação ou um anexo esquecido pode invalidar o relatório, resultando na não-conformidade fiscal e na perda total do reembolso. Isso gera frustração, desengajamento e atrito financeiro para o colaborador.</a:t>
          </a:r>
        </a:p>
      </dsp:txBody>
      <dsp:txXfrm>
        <a:off x="6218631" y="456684"/>
        <a:ext cx="2544718" cy="1922314"/>
      </dsp:txXfrm>
    </dsp:sp>
    <dsp:sp modelId="{C1F53D76-16DC-4273-BBB1-A5CF4BA2651F}">
      <dsp:nvSpPr>
        <dsp:cNvPr id="0" name=""/>
        <dsp:cNvSpPr/>
      </dsp:nvSpPr>
      <dsp:spPr>
        <a:xfrm>
          <a:off x="6172508" y="2378999"/>
          <a:ext cx="2636964" cy="846428"/>
        </a:xfrm>
        <a:prstGeom prst="rect">
          <a:avLst/>
        </a:prstGeom>
        <a:solidFill>
          <a:schemeClr val="accent2">
            <a:hueOff val="-1455363"/>
            <a:satOff val="-83928"/>
            <a:lumOff val="8628"/>
            <a:alphaOff val="0"/>
          </a:schemeClr>
        </a:solidFill>
        <a:ln w="12700" cap="flat" cmpd="sng" algn="ctr">
          <a:solidFill>
            <a:schemeClr val="accent2">
              <a:hueOff val="-1455363"/>
              <a:satOff val="-83928"/>
              <a:lumOff val="8628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0" tIns="0" rIns="25400" bIns="0" numCol="1" spcCol="1270" anchor="ctr" anchorCtr="0">
          <a:noAutofit/>
        </a:bodyPr>
        <a:lstStyle/>
        <a:p>
          <a:pPr marL="0" lvl="0" indent="0" algn="l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t-BR" sz="2000" b="1" kern="1200" dirty="0"/>
            <a:t>Risco de Perda Real</a:t>
          </a:r>
        </a:p>
      </dsp:txBody>
      <dsp:txXfrm>
        <a:off x="6172508" y="2378999"/>
        <a:ext cx="1857016" cy="846428"/>
      </dsp:txXfrm>
    </dsp:sp>
    <dsp:sp modelId="{0E8F2B76-8B85-4838-8986-4BC6F6DF84B5}">
      <dsp:nvSpPr>
        <dsp:cNvPr id="0" name=""/>
        <dsp:cNvSpPr/>
      </dsp:nvSpPr>
      <dsp:spPr>
        <a:xfrm>
          <a:off x="8104121" y="2513446"/>
          <a:ext cx="922937" cy="922937"/>
        </a:xfrm>
        <a:prstGeom prst="ellipse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a:blipFill>
        <a:ln w="12700" cap="flat" cmpd="sng" algn="ctr">
          <a:solidFill>
            <a:schemeClr val="accent2">
              <a:tint val="40000"/>
              <a:alpha val="90000"/>
              <a:hueOff val="-849226"/>
              <a:satOff val="-75346"/>
              <a:lumOff val="-769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D7401C2F-B208-4E6E-8413-441B5E23546E}">
      <dsp:nvSpPr>
        <dsp:cNvPr id="0" name=""/>
        <dsp:cNvSpPr/>
      </dsp:nvSpPr>
      <dsp:spPr>
        <a:xfrm>
          <a:off x="0" y="0"/>
          <a:ext cx="8128000" cy="1711212"/>
        </a:xfrm>
        <a:prstGeom prst="roundRect">
          <a:avLst>
            <a:gd name="adj" fmla="val 10000"/>
          </a:avLst>
        </a:prstGeom>
        <a:gradFill rotWithShape="1">
          <a:gsLst>
            <a:gs pos="0">
              <a:schemeClr val="accent5">
                <a:satMod val="103000"/>
                <a:lumMod val="102000"/>
                <a:tint val="94000"/>
              </a:schemeClr>
            </a:gs>
            <a:gs pos="50000">
              <a:schemeClr val="accent5">
                <a:satMod val="110000"/>
                <a:lumMod val="100000"/>
                <a:shade val="100000"/>
              </a:schemeClr>
            </a:gs>
            <a:gs pos="100000">
              <a:schemeClr val="accent5">
                <a:lumMod val="99000"/>
                <a:satMod val="120000"/>
                <a:shade val="78000"/>
              </a:schemeClr>
            </a:gs>
          </a:gsLst>
          <a:lin ang="5400000" scaled="0"/>
        </a:gradFill>
        <a:ln w="6350" cap="flat" cmpd="sng" algn="ctr">
          <a:solidFill>
            <a:schemeClr val="accent5"/>
          </a:solidFill>
          <a:prstDash val="solid"/>
          <a:miter lim="800000"/>
        </a:ln>
        <a:effectLst/>
      </dsp:spPr>
      <dsp:style>
        <a:lnRef idx="1">
          <a:schemeClr val="accent5"/>
        </a:lnRef>
        <a:fillRef idx="3">
          <a:schemeClr val="accent5"/>
        </a:fillRef>
        <a:effectRef idx="2">
          <a:schemeClr val="accent5"/>
        </a:effectRef>
        <a:fontRef idx="minor">
          <a:schemeClr val="lt1"/>
        </a:fontRef>
      </dsp:style>
      <dsp:txBody>
        <a:bodyPr spcFirstLastPara="0" vert="horz" wrap="square" lIns="60960" tIns="60960" rIns="60960" bIns="60960" numCol="1" spcCol="1270" anchor="ctr" anchorCtr="0">
          <a:noAutofit/>
        </a:bodyPr>
        <a:lstStyle/>
        <a:p>
          <a:pPr marL="0" lvl="0" indent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t-BR" sz="1600" b="1" kern="1200" dirty="0">
              <a:solidFill>
                <a:schemeClr val="bg1"/>
              </a:solidFill>
              <a:latin typeface="Inter" panose="02000503000000020004" pitchFamily="2" charset="0"/>
              <a:ea typeface="Inter" panose="02000503000000020004" pitchFamily="2" charset="0"/>
            </a:rPr>
            <a:t>Nosso Alvo</a:t>
          </a:r>
        </a:p>
        <a:p>
          <a:pPr marL="0" lvl="1" indent="0" algn="l" defTabSz="711200">
            <a:lnSpc>
              <a:spcPct val="90000"/>
            </a:lnSpc>
            <a:spcBef>
              <a:spcPct val="0"/>
            </a:spcBef>
            <a:spcAft>
              <a:spcPct val="15000"/>
            </a:spcAft>
            <a:buNone/>
          </a:pPr>
          <a:r>
            <a:rPr lang="pt-BR" sz="1600" kern="1200" dirty="0">
              <a:latin typeface="Inter" panose="02000503000000020004" pitchFamily="2" charset="0"/>
              <a:ea typeface="Inter" panose="02000503000000020004" pitchFamily="2" charset="0"/>
            </a:rPr>
            <a:t>Empresas com equipes externas, consultores, executivos em viagem ou qualquer profissional que precise de ajuda para executar seu trabalho.</a:t>
          </a:r>
        </a:p>
      </dsp:txBody>
      <dsp:txXfrm>
        <a:off x="1796721" y="0"/>
        <a:ext cx="6331278" cy="1711212"/>
      </dsp:txXfrm>
    </dsp:sp>
    <dsp:sp modelId="{3B7CD6C7-7C25-4CFC-8C65-A7A94A8A33AA}">
      <dsp:nvSpPr>
        <dsp:cNvPr id="0" name=""/>
        <dsp:cNvSpPr/>
      </dsp:nvSpPr>
      <dsp:spPr>
        <a:xfrm>
          <a:off x="171121" y="171121"/>
          <a:ext cx="1625600" cy="1368970"/>
        </a:xfrm>
        <a:prstGeom prst="roundRect">
          <a:avLst>
            <a:gd name="adj" fmla="val 10000"/>
          </a:avLst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a:blip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122BD15B-2B18-4121-967C-7FE2AE86D693}">
      <dsp:nvSpPr>
        <dsp:cNvPr id="0" name=""/>
        <dsp:cNvSpPr/>
      </dsp:nvSpPr>
      <dsp:spPr>
        <a:xfrm>
          <a:off x="0" y="1882333"/>
          <a:ext cx="8128000" cy="1711212"/>
        </a:xfrm>
        <a:prstGeom prst="roundRect">
          <a:avLst>
            <a:gd name="adj" fmla="val 10000"/>
          </a:avLst>
        </a:prstGeom>
        <a:gradFill rotWithShape="1">
          <a:gsLst>
            <a:gs pos="0">
              <a:schemeClr val="accent5">
                <a:satMod val="103000"/>
                <a:lumMod val="102000"/>
                <a:tint val="94000"/>
              </a:schemeClr>
            </a:gs>
            <a:gs pos="50000">
              <a:schemeClr val="accent5">
                <a:satMod val="110000"/>
                <a:lumMod val="100000"/>
                <a:shade val="100000"/>
              </a:schemeClr>
            </a:gs>
            <a:gs pos="100000">
              <a:schemeClr val="accent5"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hemeClr val="accent5"/>
        </a:lnRef>
        <a:fillRef idx="3">
          <a:schemeClr val="accent5"/>
        </a:fillRef>
        <a:effectRef idx="3">
          <a:schemeClr val="accent5"/>
        </a:effectRef>
        <a:fontRef idx="minor">
          <a:schemeClr val="lt1"/>
        </a:fontRef>
      </dsp:style>
      <dsp:txBody>
        <a:bodyPr spcFirstLastPara="0" vert="horz" wrap="square" lIns="60960" tIns="60960" rIns="60960" bIns="60960" numCol="1" spcCol="1270" anchor="ctr" anchorCtr="0">
          <a:noAutofit/>
        </a:bodyPr>
        <a:lstStyle/>
        <a:p>
          <a:pPr marL="0" lvl="0" indent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t-BR" sz="1600" b="1" kern="1200" dirty="0">
              <a:solidFill>
                <a:schemeClr val="bg1"/>
              </a:solidFill>
              <a:latin typeface="Inter" panose="02000503000000020004" pitchFamily="2" charset="0"/>
              <a:ea typeface="Inter" panose="02000503000000020004" pitchFamily="2" charset="0"/>
            </a:rPr>
            <a:t>Tamanho do Mercado</a:t>
          </a:r>
        </a:p>
        <a:p>
          <a:pPr marL="0" lvl="1" indent="0" algn="l" defTabSz="711200">
            <a:lnSpc>
              <a:spcPct val="90000"/>
            </a:lnSpc>
            <a:spcBef>
              <a:spcPct val="0"/>
            </a:spcBef>
            <a:spcAft>
              <a:spcPct val="15000"/>
            </a:spcAft>
            <a:buNone/>
          </a:pPr>
          <a:r>
            <a:rPr lang="pt-BR" sz="1600" kern="1200" dirty="0">
              <a:latin typeface="Inter" panose="02000503000000020004" pitchFamily="2" charset="0"/>
              <a:ea typeface="Inter" panose="02000503000000020004" pitchFamily="2" charset="0"/>
            </a:rPr>
            <a:t>O mercado de software de gestão de despesas em plena expansão, projetado para alcançar US$ 6.9 bilhões globalmente até 2028. No Brasil, a corrida pela transformação digital e eficiência operacional coloca nossa solução no centro de uma demanda crescente e imediata.</a:t>
          </a:r>
        </a:p>
      </dsp:txBody>
      <dsp:txXfrm>
        <a:off x="1796721" y="1882333"/>
        <a:ext cx="6331278" cy="1711212"/>
      </dsp:txXfrm>
    </dsp:sp>
    <dsp:sp modelId="{8B7A7618-6040-4F38-BBB9-B7972F3CD21E}">
      <dsp:nvSpPr>
        <dsp:cNvPr id="0" name=""/>
        <dsp:cNvSpPr/>
      </dsp:nvSpPr>
      <dsp:spPr>
        <a:xfrm>
          <a:off x="171121" y="2053455"/>
          <a:ext cx="1625600" cy="1368970"/>
        </a:xfrm>
        <a:prstGeom prst="roundRect">
          <a:avLst>
            <a:gd name="adj" fmla="val 10000"/>
          </a:avLst>
        </a:prstGeom>
        <a:blipFill>
          <a:blip xmlns:r="http://schemas.openxmlformats.org/officeDocument/2006/relationships"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a:blip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bList2">
  <dgm:title val=""/>
  <dgm:desc val=""/>
  <dgm:catLst>
    <dgm:cat type="list" pri="7000"/>
    <dgm:cat type="convert" pri="16000"/>
    <dgm:cat type="picture" pri="28000"/>
    <dgm:cat type="pictureconvert" pri="28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11"/>
        <dgm:pt modelId="2"/>
        <dgm:pt modelId="21"/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23" srcId="2" destId="2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diagram">
    <dgm:varLst>
      <dgm:dir/>
      <dgm:animLvl val="lvl"/>
      <dgm:resizeHandles val="exact"/>
    </dgm:varLst>
    <dgm:choose name="Name0">
      <dgm:if name="Name1" axis="self" func="var" arg="dir" op="equ" val="norm">
        <dgm:alg type="snake">
          <dgm:param type="grDir" val="tL"/>
          <dgm:param type="flowDir" val="row"/>
          <dgm:param type="contDir" val="sameDir"/>
          <dgm:param type="off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compNode" refType="w"/>
      <dgm:constr type="w" for="ch" ptType="sibTrans" refType="w" refFor="ch" refForName="compNode" op="equ" fact="0.08"/>
      <dgm:constr type="sp" refType="w" refFor="ch" refForName="compNode" op="equ" fact="0.16"/>
      <dgm:constr type="primFontSz" for="des" forName="parentText" op="equ" val="65"/>
      <dgm:constr type="primFontSz" for="des" forName="childRect" op="equ" val="65"/>
    </dgm:constrLst>
    <dgm:ruleLst/>
    <dgm:forEach name="nodesForEach" axis="ch" ptType="node">
      <dgm:layoutNode name="compNode">
        <dgm:alg type="composite">
          <dgm:param type="ar" val="0.943"/>
        </dgm:alg>
        <dgm:shape xmlns:r="http://schemas.openxmlformats.org/officeDocument/2006/relationships" r:blip="">
          <dgm:adjLst/>
        </dgm:shape>
        <dgm:presOf/>
        <dgm:choose name="Name3">
          <dgm:if name="Name4" axis="self" func="var" arg="dir" op="equ" val="norm">
            <dgm:constrLst>
              <dgm:constr type="w" val="1"/>
              <dgm:constr type="h" refType="w" fact="1.06"/>
              <dgm:constr type="h" for="ch" forName="childRect" refType="h" fact="0.65"/>
              <dgm:constr type="w" for="ch" forName="childRect" refType="w" fact="0.923"/>
              <dgm:constr type="l" for="ch" forName="childRect"/>
              <dgm:constr type="t" for="ch" forName="childRect"/>
              <dgm:constr type="w" for="ch" forName="parentText" refType="w" fact="0.65"/>
              <dgm:constr type="h" for="ch" forName="parentText" refType="h" refFor="ch" refForName="childRect" fact="0.43"/>
              <dgm:constr type="l" for="ch" forName="parentText"/>
              <dgm:constr type="t" for="ch" forName="parentText" refType="h" refFor="ch" refForName="childRect"/>
              <dgm:constr type="w" for="ch" forName="parentRect" refType="w" fact="0.923"/>
              <dgm:constr type="h" for="ch" forName="parentRect" refType="h" refFor="ch" refForName="parentText"/>
              <dgm:constr type="l" for="ch" forName="parentRect"/>
              <dgm:constr type="t" for="ch" forName="parentRect" refType="t" refFor="ch" refForName="parentText"/>
              <dgm:constr type="w" for="ch" forName="adorn" refType="w" refFor="ch" refForName="parentRect" fact="0.35"/>
              <dgm:constr type="h" for="ch" forName="adorn" refType="w" refFor="ch" refForName="parentRect" fact="0.35"/>
              <dgm:constr type="b" for="ch" forName="adorn" refType="h"/>
              <dgm:constr type="r" for="ch" forName="adorn" refType="w"/>
            </dgm:constrLst>
          </dgm:if>
          <dgm:else name="Name5">
            <dgm:constrLst>
              <dgm:constr type="w" val="1"/>
              <dgm:constr type="h" refType="w" fact="1.06"/>
              <dgm:constr type="h" for="ch" forName="childRect" refType="h" fact="0.65"/>
              <dgm:constr type="w" for="ch" forName="childRect" refType="w" fact="0.923"/>
              <dgm:constr type="r" for="ch" forName="childRect" refType="w"/>
              <dgm:constr type="t" for="ch" forName="childRect"/>
              <dgm:constr type="w" for="ch" forName="parentText" refType="w" fact="0.65"/>
              <dgm:constr type="h" for="ch" forName="parentText" refType="h" refFor="ch" refForName="childRect" fact="0.43"/>
              <dgm:constr type="r" for="ch" forName="parentText" refType="w"/>
              <dgm:constr type="t" for="ch" forName="parentText" refType="h" refFor="ch" refForName="childRect"/>
              <dgm:constr type="w" for="ch" forName="parentRect" refType="w" fact="0.923"/>
              <dgm:constr type="h" for="ch" forName="parentRect" refType="h" refFor="ch" refForName="parentText"/>
              <dgm:constr type="r" for="ch" forName="parentRect" refType="w"/>
              <dgm:constr type="t" for="ch" forName="parentRect" refType="t" refFor="ch" refForName="parentText"/>
              <dgm:constr type="w" for="ch" forName="adorn" refType="w" refFor="ch" refForName="parentRect" fact="0.35"/>
              <dgm:constr type="h" for="ch" forName="adorn" refType="w" refFor="ch" refForName="parentRect" fact="0.35"/>
              <dgm:constr type="b" for="ch" forName="adorn" refType="h"/>
              <dgm:constr type="l" for="ch" forName="adorn"/>
            </dgm:constrLst>
          </dgm:else>
        </dgm:choose>
        <dgm:ruleLst/>
        <dgm:layoutNode name="childRect" styleLbl="bgAcc1">
          <dgm:varLst>
            <dgm:bulletEnabled val="1"/>
          </dgm:varLst>
          <dgm:alg type="tx">
            <dgm:param type="stBulletLvl" val="1"/>
          </dgm:alg>
          <dgm:shape xmlns:r="http://schemas.openxmlformats.org/officeDocument/2006/relationships" type="round2SameRect" r:blip="">
            <dgm:adjLst>
              <dgm:adj idx="1" val="0.08"/>
            </dgm:adjLst>
          </dgm:shape>
          <dgm:presOf axis="des" ptType="node"/>
          <dgm:constrLst>
            <dgm:constr type="secFontSz" refType="primFontSz"/>
            <dgm:constr type="tMarg" refType="primFontSz" fact="0.3"/>
            <dgm:constr type="bMarg" refType="primFontSz" fact="0.1"/>
            <dgm:constr type="lMarg" refType="primFontSz" fact="0.1"/>
            <dgm:constr type="rMarg" refType="primFontSz" fact="0.1"/>
          </dgm:constrLst>
          <dgm:ruleLst>
            <dgm:rule type="primFontSz" val="5" fact="NaN" max="NaN"/>
          </dgm:ruleLst>
        </dgm:layoutNode>
        <dgm:layoutNode name="parentText">
          <dgm:varLst>
            <dgm:chMax val="0"/>
            <dgm:bulletEnabled val="1"/>
          </dgm:varLst>
          <dgm:choose name="Name6">
            <dgm:if name="Name7" func="var" arg="dir" op="equ" val="norm">
              <dgm:alg type="tx">
                <dgm:param type="parTxLTRAlign" val="l"/>
                <dgm:param type="parTxRTLAlign" val="l"/>
              </dgm:alg>
            </dgm:if>
            <dgm:else name="Name8">
              <dgm:alg type="tx">
                <dgm:param type="parTxLTRAlign" val="r"/>
                <dgm:param type="parTxRTLAlign" val="r"/>
              </dgm:alg>
            </dgm:else>
          </dgm:choose>
          <dgm:shape xmlns:r="http://schemas.openxmlformats.org/officeDocument/2006/relationships" type="rect" r:blip="" zOrderOff="1" hideGeom="1">
            <dgm:adjLst/>
          </dgm:shape>
          <dgm:presOf axis="self" ptType="node"/>
          <dgm:constrLst>
            <dgm:constr type="tMarg"/>
            <dgm:constr type="bMarg"/>
            <dgm:constr type="lMarg" refType="primFontSz" fact="0.3"/>
            <dgm:constr type="rMarg" refType="primFontSz" fact="0.1"/>
          </dgm:constrLst>
          <dgm:ruleLst>
            <dgm:rule type="primFontSz" val="5" fact="NaN" max="NaN"/>
          </dgm:ruleLst>
        </dgm:layoutNode>
        <dgm:layoutNode name="parentRect" styleLbl="alignNode1">
          <dgm:alg type="sp"/>
          <dgm:shape xmlns:r="http://schemas.openxmlformats.org/officeDocument/2006/relationships" type="rect" r:blip="">
            <dgm:adjLst/>
          </dgm:shape>
          <dgm:presOf axis="self" ptType="node"/>
          <dgm:constrLst/>
          <dgm:ruleLst/>
        </dgm:layoutNode>
        <dgm:layoutNode name="adorn" styleLbl="fgAccFollowNode1">
          <dgm:alg type="sp"/>
          <dgm:shape xmlns:r="http://schemas.openxmlformats.org/officeDocument/2006/relationships" type="ellipse" r:blip="" blipPhldr="1">
            <dgm:adjLst/>
          </dgm:shape>
          <dgm:presOf/>
          <dgm:constrLst/>
          <dgm:ruleLst/>
        </dgm:layoutNode>
      </dgm:layoutNode>
      <dgm:forEach name="sibTransForEach" axis="followSib" ptType="sibTrans" cnt="1">
        <dgm:layoutNode name="sibTrans">
          <dgm:alg type="sp"/>
          <dgm:shape xmlns:r="http://schemas.openxmlformats.org/officeDocument/2006/relationships" type="rect" r:blip="" hideGeom="1">
            <dgm:adjLst/>
          </dgm:shape>
          <dgm:presOf axis="self"/>
          <dgm:constrLst>
            <dgm:constr type="w" val="1"/>
            <dgm:constr type="h" refType="w"/>
          </dgm:constrLst>
          <dgm:ruleLst/>
        </dgm:layoutNode>
      </dgm:forEach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vList4">
  <dgm:title val=""/>
  <dgm:desc val=""/>
  <dgm:catLst>
    <dgm:cat type="list" pri="13000"/>
    <dgm:cat type="picture" pri="26000"/>
    <dgm:cat type="pictureconvert" pri="26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14" srcId="1" destId="12" srcOrd="0" destOrd="0"/>
        <dgm:cxn modelId="23" srcId="2" destId="21" srcOrd="0" destOrd="0"/>
        <dgm:cxn modelId="24" srcId="2" destId="22" srcOrd="0" destOrd="0"/>
        <dgm:cxn modelId="33" srcId="3" destId="31" srcOrd="0" destOrd="0"/>
        <dgm:cxn modelId="34" srcId="3" destId="32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dir/>
      <dgm:resizeHandles val="exact"/>
    </dgm:varLst>
    <dgm:alg type="lin">
      <dgm:param type="linDir" val="fromT"/>
      <dgm:param type="vertAlign" val="t"/>
    </dgm:alg>
    <dgm:shape xmlns:r="http://schemas.openxmlformats.org/officeDocument/2006/relationships" r:blip="">
      <dgm:adjLst/>
    </dgm:shape>
    <dgm:presOf/>
    <dgm:constrLst>
      <dgm:constr type="w" for="ch" forName="comp" refType="w"/>
      <dgm:constr type="h" for="ch" forName="comp" refType="h"/>
      <dgm:constr type="h" for="ch" forName="spacer" refType="h" refFor="ch" refForName="comp" op="equ" fact="0.1"/>
      <dgm:constr type="primFontSz" for="des" forName="text" op="equ" val="65"/>
    </dgm:constrLst>
    <dgm:ruleLst/>
    <dgm:forEach name="Name0" axis="ch" ptType="node">
      <dgm:layoutNode name="comp" styleLbl="node1">
        <dgm:alg type="composite"/>
        <dgm:shape xmlns:r="http://schemas.openxmlformats.org/officeDocument/2006/relationships" r:blip="">
          <dgm:adjLst/>
        </dgm:shape>
        <dgm:presOf/>
        <dgm:choose name="Name1">
          <dgm:if name="Name2" func="var" arg="dir" op="equ" val="norm">
            <dgm:constrLst>
              <dgm:constr type="h" for="ch" forName="box" refType="h"/>
              <dgm:constr type="w" for="ch" forName="box" refType="w"/>
              <dgm:constr type="w" for="ch" forName="img" refType="w" refFor="ch" refForName="box" fact="0.2"/>
              <dgm:constr type="h" for="ch" forName="img" refType="h" refFor="ch" refForName="box" fact="0.8"/>
              <dgm:constr type="t" for="ch" forName="img" refType="h" refFor="ch" refForName="box" fact="0.1"/>
              <dgm:constr type="l" for="ch" forName="img" refType="h" refFor="ch" refForName="box" fact="0.1"/>
              <dgm:constr type="h" for="ch" forName="text" refType="h"/>
              <dgm:constr type="l" for="ch" forName="text" refType="r" refFor="ch" refForName="img"/>
              <dgm:constr type="r" for="ch" forName="text" refType="w"/>
            </dgm:constrLst>
          </dgm:if>
          <dgm:else name="Name3">
            <dgm:constrLst>
              <dgm:constr type="h" for="ch" forName="box" refType="h"/>
              <dgm:constr type="w" for="ch" forName="box" refType="w"/>
              <dgm:constr type="w" for="ch" forName="img" refType="w" refFor="ch" refForName="box" fact="0.2"/>
              <dgm:constr type="h" for="ch" forName="img" refType="h" refFor="ch" refForName="box" fact="0.8"/>
              <dgm:constr type="t" for="ch" forName="img" refType="h" refFor="ch" refForName="box" fact="0.1"/>
              <dgm:constr type="r" for="ch" forName="img" refType="w" refFor="ch" refForName="box"/>
              <dgm:constr type="rOff" for="ch" forName="img" refType="h" refFor="ch" refForName="box" fact="-0.1"/>
              <dgm:constr type="h" for="ch" forName="text" refType="h"/>
              <dgm:constr type="r" for="ch" forName="text" refType="l" refFor="ch" refForName="img"/>
              <dgm:constr type="l" for="ch" forName="text"/>
            </dgm:constrLst>
          </dgm:else>
        </dgm:choose>
        <dgm:ruleLst/>
        <dgm:layoutNode name="box" styleLbl="node1">
          <dgm:alg type="sp"/>
          <dgm:shape xmlns:r="http://schemas.openxmlformats.org/officeDocument/2006/relationships" type="roundRect" r:blip="">
            <dgm:adjLst>
              <dgm:adj idx="1" val="0.1"/>
            </dgm:adjLst>
          </dgm:shape>
          <dgm:presOf axis="desOrSelf" ptType="node"/>
          <dgm:constrLst/>
          <dgm:ruleLst/>
        </dgm:layoutNode>
        <dgm:layoutNode name="img" styleLbl="fgImgPlace1">
          <dgm:alg type="sp"/>
          <dgm:shape xmlns:r="http://schemas.openxmlformats.org/officeDocument/2006/relationships" type="roundRect" r:blip="" blipPhldr="1">
            <dgm:adjLst>
              <dgm:adj idx="1" val="0.1"/>
            </dgm:adjLst>
          </dgm:shape>
          <dgm:presOf/>
          <dgm:constrLst/>
          <dgm:ruleLst/>
        </dgm:layoutNode>
        <dgm:layoutNode name="text">
          <dgm:varLst>
            <dgm:bulletEnabled val="1"/>
          </dgm:varLst>
          <dgm:alg type="tx">
            <dgm:param type="parTxLTRAlign" val="l"/>
            <dgm:param type="parTxRTLAlign" val="r"/>
          </dgm:alg>
          <dgm:shape xmlns:r="http://schemas.openxmlformats.org/officeDocument/2006/relationships" type="rect" r:blip="" hideGeom="1">
            <dgm:adjLst/>
          </dgm:shape>
          <dgm:presOf axis="desOrSelf" ptType="node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</dgm:layoutNode>
      <dgm:forEach name="Name4" axis="followSib" ptType="sibTrans" cnt="1">
        <dgm:layoutNode name="spacer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8B34ACF-AFD6-56E8-834B-D6B506DAC28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86A3A546-2CB3-B42D-3F84-13A7F70D472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BR"/>
              <a:t>Clique para editar o estilo do subtítulo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DA08EDF5-914D-F3A3-924C-2A3E1A9373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5B7BA8-EC9D-4768-84BF-EB4326C38B13}" type="datetimeFigureOut">
              <a:rPr lang="pt-BR" smtClean="0"/>
              <a:t>28/10/2025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CBF6D53F-E371-9272-D504-985B18A6F6C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499C3CCF-6084-0CEC-1F33-9D46102EE7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CCB9FD-8BB6-43C3-B57D-E35023C366AA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31831564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9420559-54F3-8E97-3568-C93EAF07F7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43E2C1F4-1700-0654-3E57-A26DC8B8B02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793B8D20-FC2D-0BA3-C98E-9E19086180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5B7BA8-EC9D-4768-84BF-EB4326C38B13}" type="datetimeFigureOut">
              <a:rPr lang="pt-BR" smtClean="0"/>
              <a:t>28/10/2025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E768FE9F-BCF7-B256-40C0-9B82581F05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3A136751-9BE1-5F79-48BD-DA2E8E85E8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CCB9FD-8BB6-43C3-B57D-E35023C366AA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5881711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954955E-6660-189C-7B80-E055E21DF9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54A52075-D9F3-AED6-396C-34E277A8FF5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D713A321-4F90-9C95-82EF-B43E872DF8D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5B7BA8-EC9D-4768-84BF-EB4326C38B13}" type="datetimeFigureOut">
              <a:rPr lang="pt-BR" smtClean="0"/>
              <a:t>28/10/2025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5DCEA164-7077-9F3C-0765-F5B97AF5C5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24524E4A-C00B-C823-1CF9-AFEE3C8A78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CCB9FD-8BB6-43C3-B57D-E35023C366AA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27193086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5D97EAA-B928-B251-9D4A-11FFBC9EDD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612F4622-BF04-4CBE-DAF4-551633A15CB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DAF3CBF0-428E-9033-AAE6-8F9DC092855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A8CA002A-F4AA-6147-495F-B6165B7712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5B7BA8-EC9D-4768-84BF-EB4326C38B13}" type="datetimeFigureOut">
              <a:rPr lang="pt-BR" smtClean="0"/>
              <a:t>28/10/2025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EBE184DE-20F9-41A4-A73B-0AD4D8DD266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A995EC3E-E37A-7A92-1399-2AB9CFA3BE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CCB9FD-8BB6-43C3-B57D-E35023C366AA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7570048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A21D35C-B862-2AED-2459-F8367975FE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7BF53247-ADE2-3772-BF40-F01D57B2B7C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B2EF6A59-F5AA-59FF-0411-B064D38F3CD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Texto 4">
            <a:extLst>
              <a:ext uri="{FF2B5EF4-FFF2-40B4-BE49-F238E27FC236}">
                <a16:creationId xmlns:a16="http://schemas.microsoft.com/office/drawing/2014/main" id="{049B31CB-F197-47E9-F812-DD6E4592F7D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20497525-F45C-EF6A-90DF-A60CD3579EF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7" name="Espaço Reservado para Data 6">
            <a:extLst>
              <a:ext uri="{FF2B5EF4-FFF2-40B4-BE49-F238E27FC236}">
                <a16:creationId xmlns:a16="http://schemas.microsoft.com/office/drawing/2014/main" id="{7FFFE8FA-0904-9A36-02C7-FA27E34A33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5B7BA8-EC9D-4768-84BF-EB4326C38B13}" type="datetimeFigureOut">
              <a:rPr lang="pt-BR" smtClean="0"/>
              <a:t>28/10/2025</a:t>
            </a:fld>
            <a:endParaRPr lang="pt-BR"/>
          </a:p>
        </p:txBody>
      </p:sp>
      <p:sp>
        <p:nvSpPr>
          <p:cNvPr id="8" name="Espaço Reservado para Rodapé 7">
            <a:extLst>
              <a:ext uri="{FF2B5EF4-FFF2-40B4-BE49-F238E27FC236}">
                <a16:creationId xmlns:a16="http://schemas.microsoft.com/office/drawing/2014/main" id="{EA9D0064-657C-6963-C1D3-DCCE7D5524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Espaço Reservado para Número de Slide 8">
            <a:extLst>
              <a:ext uri="{FF2B5EF4-FFF2-40B4-BE49-F238E27FC236}">
                <a16:creationId xmlns:a16="http://schemas.microsoft.com/office/drawing/2014/main" id="{EEC45FA0-6FC3-0038-58C7-19826CB727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CCB9FD-8BB6-43C3-B57D-E35023C366AA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52895659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25C20F0-221D-20CC-AFB5-A45A7C32FE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Data 2">
            <a:extLst>
              <a:ext uri="{FF2B5EF4-FFF2-40B4-BE49-F238E27FC236}">
                <a16:creationId xmlns:a16="http://schemas.microsoft.com/office/drawing/2014/main" id="{5CB7FAEA-8AFF-CBFD-1E58-148F9D8C95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5B7BA8-EC9D-4768-84BF-EB4326C38B13}" type="datetimeFigureOut">
              <a:rPr lang="pt-BR" smtClean="0"/>
              <a:t>28/10/2025</a:t>
            </a:fld>
            <a:endParaRPr lang="pt-BR"/>
          </a:p>
        </p:txBody>
      </p:sp>
      <p:sp>
        <p:nvSpPr>
          <p:cNvPr id="4" name="Espaço Reservado para Rodapé 3">
            <a:extLst>
              <a:ext uri="{FF2B5EF4-FFF2-40B4-BE49-F238E27FC236}">
                <a16:creationId xmlns:a16="http://schemas.microsoft.com/office/drawing/2014/main" id="{B5508A1A-DCCD-DB51-7D9D-2A9D2FA0A4C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Espaço Reservado para Número de Slide 4">
            <a:extLst>
              <a:ext uri="{FF2B5EF4-FFF2-40B4-BE49-F238E27FC236}">
                <a16:creationId xmlns:a16="http://schemas.microsoft.com/office/drawing/2014/main" id="{891B5804-99B1-C306-4BEB-D7E92F0EE1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CCB9FD-8BB6-43C3-B57D-E35023C366AA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40257938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Data 1">
            <a:extLst>
              <a:ext uri="{FF2B5EF4-FFF2-40B4-BE49-F238E27FC236}">
                <a16:creationId xmlns:a16="http://schemas.microsoft.com/office/drawing/2014/main" id="{3BE587D6-D596-E6B8-8CCF-F5C52B2CC6C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5B7BA8-EC9D-4768-84BF-EB4326C38B13}" type="datetimeFigureOut">
              <a:rPr lang="pt-BR" smtClean="0"/>
              <a:t>28/10/2025</a:t>
            </a:fld>
            <a:endParaRPr lang="pt-BR"/>
          </a:p>
        </p:txBody>
      </p:sp>
      <p:sp>
        <p:nvSpPr>
          <p:cNvPr id="3" name="Espaço Reservado para Rodapé 2">
            <a:extLst>
              <a:ext uri="{FF2B5EF4-FFF2-40B4-BE49-F238E27FC236}">
                <a16:creationId xmlns:a16="http://schemas.microsoft.com/office/drawing/2014/main" id="{07B9EE5C-D6EC-6F76-651F-2D7A7628541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D60380DC-7742-8ECD-8FB7-7A8B061328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CCB9FD-8BB6-43C3-B57D-E35023C366AA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70103058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AD18BA9-700F-BB44-8976-ECABE0305CA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6A914B12-313C-C5A2-D371-1DB77539E98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46FF4A51-B40E-5CF0-FC6F-EA4C221C220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AEFA1D50-9FC6-352B-055F-80F2FA79E7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5B7BA8-EC9D-4768-84BF-EB4326C38B13}" type="datetimeFigureOut">
              <a:rPr lang="pt-BR" smtClean="0"/>
              <a:t>28/10/2025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EA309898-99B2-3713-6C34-603821445F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69DF0C0B-4236-3EB2-BC2B-9531760873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CCB9FD-8BB6-43C3-B57D-E35023C366AA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94880861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637326B-0DAA-0481-2D5A-2205C2232A0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Imagem 2">
            <a:extLst>
              <a:ext uri="{FF2B5EF4-FFF2-40B4-BE49-F238E27FC236}">
                <a16:creationId xmlns:a16="http://schemas.microsoft.com/office/drawing/2014/main" id="{5F782468-5CBF-A0D9-66D4-C604B406730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t-BR"/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E5EAD8BD-714A-C6F5-D805-C7AD33EA770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524ADB1B-F045-542B-CD6D-DBDF63E014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5B7BA8-EC9D-4768-84BF-EB4326C38B13}" type="datetimeFigureOut">
              <a:rPr lang="pt-BR" smtClean="0"/>
              <a:t>28/10/2025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A7658BD8-688B-3D6B-3FEC-F8C9B944D7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66DCE9E1-B57D-65E4-96BA-3FC3E8947E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CCB9FD-8BB6-43C3-B57D-E35023C366AA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27226936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118E698-DC48-0250-F4EA-B7AEA365EA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33D78759-BCB6-CBFF-49E8-D1D6257F8D9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F3D5C6FB-7306-A52B-1103-CB60C9BF77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5B7BA8-EC9D-4768-84BF-EB4326C38B13}" type="datetimeFigureOut">
              <a:rPr lang="pt-BR" smtClean="0"/>
              <a:t>28/10/2025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57D024B1-9CCF-1E68-E6EF-8CF7C68C57D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D86AB0C5-85A8-F893-2821-4011E3871B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CCB9FD-8BB6-43C3-B57D-E35023C366AA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03845663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A4AE6967-445C-56E1-BFA3-E14E13C6A02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811C1841-C3A4-0A95-E70D-F1F581DF919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47720302-D88B-1576-53E6-05B24C8DFCB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5B7BA8-EC9D-4768-84BF-EB4326C38B13}" type="datetimeFigureOut">
              <a:rPr lang="pt-BR" smtClean="0"/>
              <a:t>28/10/2025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01FD9E3E-65A0-C73A-10A0-E297612F12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2D710EB5-05AB-E317-AF2E-7A5EB3F344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CCB9FD-8BB6-43C3-B57D-E35023C366AA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46782382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pt-BR"/>
              <a:t>Clique para editar o título mestre</a:t>
            </a:r>
            <a:endParaRPr lang="de-DE"/>
          </a:p>
        </p:txBody>
      </p:sp>
      <p:sp>
        <p:nvSpPr>
          <p:cNvPr id="3" name="Subtítulo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BR"/>
              <a:t>Clique para editar o estilo do subtítulo mestre</a:t>
            </a:r>
            <a:endParaRPr lang="de-DE"/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E51C7C-CEA3-4CAA-BE4B-344879E7C377}" type="datetimeFigureOut">
              <a:rPr lang="de-DE" smtClean="0"/>
              <a:t>28.10.2025</a:t>
            </a:fld>
            <a:endParaRPr lang="de-DE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4FE2FE-B55E-4328-8F5C-2CEB8781A47B}" type="slidenum">
              <a:rPr lang="de-DE" smtClean="0"/>
              <a:t>‹nº›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092467378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de-DE"/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Clique para editar 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de-DE"/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E51C7C-CEA3-4CAA-BE4B-344879E7C377}" type="datetimeFigureOut">
              <a:rPr lang="de-DE" smtClean="0"/>
              <a:t>28.10.2025</a:t>
            </a:fld>
            <a:endParaRPr lang="de-DE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4FE2FE-B55E-4328-8F5C-2CEB8781A47B}" type="slidenum">
              <a:rPr lang="de-DE" smtClean="0"/>
              <a:t>‹nº›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970849855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pt-BR"/>
              <a:t>Clique para editar o título mestre</a:t>
            </a:r>
            <a:endParaRPr lang="de-DE"/>
          </a:p>
        </p:txBody>
      </p:sp>
      <p:sp>
        <p:nvSpPr>
          <p:cNvPr id="3" name="Espaço Reservado para Texto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pt-BR"/>
              <a:t>Clique para editar o texto mestre</a:t>
            </a:r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E51C7C-CEA3-4CAA-BE4B-344879E7C377}" type="datetimeFigureOut">
              <a:rPr lang="de-DE" smtClean="0"/>
              <a:t>28.10.2025</a:t>
            </a:fld>
            <a:endParaRPr lang="de-DE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4FE2FE-B55E-4328-8F5C-2CEB8781A47B}" type="slidenum">
              <a:rPr lang="de-DE" smtClean="0"/>
              <a:t>‹nº›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197621170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de-DE"/>
          </a:p>
        </p:txBody>
      </p:sp>
      <p:sp>
        <p:nvSpPr>
          <p:cNvPr id="3" name="Espaço Reservado para Conteúdo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Clique para editar 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de-DE"/>
          </a:p>
        </p:txBody>
      </p:sp>
      <p:sp>
        <p:nvSpPr>
          <p:cNvPr id="4" name="Espaço Reservado para Conteúdo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Clique para editar 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de-DE"/>
          </a:p>
        </p:txBody>
      </p:sp>
      <p:sp>
        <p:nvSpPr>
          <p:cNvPr id="5" name="Espaço Reservado para Dat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E51C7C-CEA3-4CAA-BE4B-344879E7C377}" type="datetimeFigureOut">
              <a:rPr lang="de-DE" smtClean="0"/>
              <a:t>28.10.2025</a:t>
            </a:fld>
            <a:endParaRPr lang="de-DE"/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4FE2FE-B55E-4328-8F5C-2CEB8781A47B}" type="slidenum">
              <a:rPr lang="de-DE" smtClean="0"/>
              <a:t>‹nº›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839614428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pt-BR"/>
              <a:t>Clique para editar o título mestre</a:t>
            </a:r>
            <a:endParaRPr lang="de-DE"/>
          </a:p>
        </p:txBody>
      </p:sp>
      <p:sp>
        <p:nvSpPr>
          <p:cNvPr id="3" name="Espaço Reservado para Texto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 texto mestre</a:t>
            </a:r>
          </a:p>
        </p:txBody>
      </p:sp>
      <p:sp>
        <p:nvSpPr>
          <p:cNvPr id="4" name="Espaço Reservado para Conteúdo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pt-BR"/>
              <a:t>Clique para editar 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de-DE"/>
          </a:p>
        </p:txBody>
      </p:sp>
      <p:sp>
        <p:nvSpPr>
          <p:cNvPr id="5" name="Espaço Reservado para Texto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 texto mestre</a:t>
            </a:r>
          </a:p>
        </p:txBody>
      </p:sp>
      <p:sp>
        <p:nvSpPr>
          <p:cNvPr id="6" name="Espaço Reservado para Conteúdo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pt-BR"/>
              <a:t>Clique para editar 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de-DE"/>
          </a:p>
        </p:txBody>
      </p:sp>
      <p:sp>
        <p:nvSpPr>
          <p:cNvPr id="7" name="Espaço Reservado para Data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E51C7C-CEA3-4CAA-BE4B-344879E7C377}" type="datetimeFigureOut">
              <a:rPr lang="de-DE" smtClean="0"/>
              <a:t>28.10.2025</a:t>
            </a:fld>
            <a:endParaRPr lang="de-DE"/>
          </a:p>
        </p:txBody>
      </p:sp>
      <p:sp>
        <p:nvSpPr>
          <p:cNvPr id="8" name="Espaço Reservado para Rodapé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9" name="Espaço Reservado para Número de Slide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4FE2FE-B55E-4328-8F5C-2CEB8781A47B}" type="slidenum">
              <a:rPr lang="de-DE" smtClean="0"/>
              <a:t>‹nº›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30229168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de-DE"/>
          </a:p>
        </p:txBody>
      </p:sp>
      <p:sp>
        <p:nvSpPr>
          <p:cNvPr id="3" name="Espaço Reservado para Data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E51C7C-CEA3-4CAA-BE4B-344879E7C377}" type="datetimeFigureOut">
              <a:rPr lang="de-DE" smtClean="0"/>
              <a:t>28.10.2025</a:t>
            </a:fld>
            <a:endParaRPr lang="de-DE"/>
          </a:p>
        </p:txBody>
      </p:sp>
      <p:sp>
        <p:nvSpPr>
          <p:cNvPr id="4" name="Espaço Reservado para Rodapé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5" name="Espaço Reservado para Número de Slide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4FE2FE-B55E-4328-8F5C-2CEB8781A47B}" type="slidenum">
              <a:rPr lang="de-DE" smtClean="0"/>
              <a:t>‹nº›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639309314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Data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E51C7C-CEA3-4CAA-BE4B-344879E7C377}" type="datetimeFigureOut">
              <a:rPr lang="de-DE" smtClean="0"/>
              <a:t>28.10.2025</a:t>
            </a:fld>
            <a:endParaRPr lang="de-DE"/>
          </a:p>
        </p:txBody>
      </p:sp>
      <p:sp>
        <p:nvSpPr>
          <p:cNvPr id="3" name="Espaço Reservado para Rodapé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4FE2FE-B55E-4328-8F5C-2CEB8781A47B}" type="slidenum">
              <a:rPr lang="de-DE" smtClean="0"/>
              <a:t>‹nº›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489583977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  <a:endParaRPr lang="de-DE"/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BR"/>
              <a:t>Clique para editar 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de-DE"/>
          </a:p>
        </p:txBody>
      </p:sp>
      <p:sp>
        <p:nvSpPr>
          <p:cNvPr id="4" name="Espaço Reservado para Texto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 texto mestre</a:t>
            </a:r>
          </a:p>
        </p:txBody>
      </p:sp>
      <p:sp>
        <p:nvSpPr>
          <p:cNvPr id="5" name="Espaço Reservado para Dat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E51C7C-CEA3-4CAA-BE4B-344879E7C377}" type="datetimeFigureOut">
              <a:rPr lang="de-DE" smtClean="0"/>
              <a:t>28.10.2025</a:t>
            </a:fld>
            <a:endParaRPr lang="de-DE"/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4FE2FE-B55E-4328-8F5C-2CEB8781A47B}" type="slidenum">
              <a:rPr lang="de-DE" smtClean="0"/>
              <a:t>‹nº›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170339794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  <a:endParaRPr lang="de-DE"/>
          </a:p>
        </p:txBody>
      </p:sp>
      <p:sp>
        <p:nvSpPr>
          <p:cNvPr id="3" name="Espaço Reservado para Imagem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de-DE"/>
          </a:p>
        </p:txBody>
      </p:sp>
      <p:sp>
        <p:nvSpPr>
          <p:cNvPr id="4" name="Espaço Reservado para Texto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 texto mestre</a:t>
            </a:r>
          </a:p>
        </p:txBody>
      </p:sp>
      <p:sp>
        <p:nvSpPr>
          <p:cNvPr id="5" name="Espaço Reservado para Dat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E51C7C-CEA3-4CAA-BE4B-344879E7C377}" type="datetimeFigureOut">
              <a:rPr lang="de-DE" smtClean="0"/>
              <a:t>28.10.2025</a:t>
            </a:fld>
            <a:endParaRPr lang="de-DE"/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4FE2FE-B55E-4328-8F5C-2CEB8781A47B}" type="slidenum">
              <a:rPr lang="de-DE" smtClean="0"/>
              <a:t>‹nº›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844175570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de-DE"/>
          </a:p>
        </p:txBody>
      </p:sp>
      <p:sp>
        <p:nvSpPr>
          <p:cNvPr id="3" name="Espaço Reservado para Texto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Clique para editar 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de-DE"/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E51C7C-CEA3-4CAA-BE4B-344879E7C377}" type="datetimeFigureOut">
              <a:rPr lang="de-DE" smtClean="0"/>
              <a:t>28.10.2025</a:t>
            </a:fld>
            <a:endParaRPr lang="de-DE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4FE2FE-B55E-4328-8F5C-2CEB8781A47B}" type="slidenum">
              <a:rPr lang="de-DE" smtClean="0"/>
              <a:t>‹nº›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034363061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e texto verticai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pt-BR"/>
              <a:t>Clique para editar o título mestre</a:t>
            </a:r>
            <a:endParaRPr lang="de-DE"/>
          </a:p>
        </p:txBody>
      </p:sp>
      <p:sp>
        <p:nvSpPr>
          <p:cNvPr id="3" name="Espaço Reservado para Texto Vertical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pt-BR"/>
              <a:t>Clique para editar 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de-DE"/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E51C7C-CEA3-4CAA-BE4B-344879E7C377}" type="datetimeFigureOut">
              <a:rPr lang="de-DE" smtClean="0"/>
              <a:t>28.10.2025</a:t>
            </a:fld>
            <a:endParaRPr lang="de-DE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4FE2FE-B55E-4328-8F5C-2CEB8781A47B}" type="slidenum">
              <a:rPr lang="de-DE" smtClean="0"/>
              <a:t>‹nº›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3035918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9.xml"/><Relationship Id="rId3" Type="http://schemas.openxmlformats.org/officeDocument/2006/relationships/slideLayout" Target="../slideLayouts/slideLayout14.xml"/><Relationship Id="rId7" Type="http://schemas.openxmlformats.org/officeDocument/2006/relationships/slideLayout" Target="../slideLayouts/slideLayout18.xml"/><Relationship Id="rId12" Type="http://schemas.openxmlformats.org/officeDocument/2006/relationships/theme" Target="../theme/theme2.xml"/><Relationship Id="rId2" Type="http://schemas.openxmlformats.org/officeDocument/2006/relationships/slideLayout" Target="../slideLayouts/slideLayout13.xml"/><Relationship Id="rId1" Type="http://schemas.openxmlformats.org/officeDocument/2006/relationships/slideLayout" Target="../slideLayouts/slideLayout12.xml"/><Relationship Id="rId6" Type="http://schemas.openxmlformats.org/officeDocument/2006/relationships/slideLayout" Target="../slideLayouts/slideLayout17.xml"/><Relationship Id="rId11" Type="http://schemas.openxmlformats.org/officeDocument/2006/relationships/slideLayout" Target="../slideLayouts/slideLayout22.xml"/><Relationship Id="rId5" Type="http://schemas.openxmlformats.org/officeDocument/2006/relationships/slideLayout" Target="../slideLayouts/slideLayout16.xml"/><Relationship Id="rId10" Type="http://schemas.openxmlformats.org/officeDocument/2006/relationships/slideLayout" Target="../slideLayouts/slideLayout21.xml"/><Relationship Id="rId4" Type="http://schemas.openxmlformats.org/officeDocument/2006/relationships/slideLayout" Target="../slideLayouts/slideLayout15.xml"/><Relationship Id="rId9" Type="http://schemas.openxmlformats.org/officeDocument/2006/relationships/slideLayout" Target="../slideLayouts/slideLayout2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ítulo 1">
            <a:extLst>
              <a:ext uri="{FF2B5EF4-FFF2-40B4-BE49-F238E27FC236}">
                <a16:creationId xmlns:a16="http://schemas.microsoft.com/office/drawing/2014/main" id="{24D765A6-CF44-C100-8246-3F30EA7DBD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B6DBBC2F-801A-AF51-0407-F063F7549A5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E591437F-E5DA-1EE9-19F8-5696AD5B524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B5B7BA8-EC9D-4768-84BF-EB4326C38B13}" type="datetimeFigureOut">
              <a:rPr lang="pt-BR" smtClean="0"/>
              <a:t>28/10/2025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A57F002D-E88E-AF4C-F171-10CCB4156CD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C5F39631-CD77-EB08-8908-24EBB46190B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0CCB9FD-8BB6-43C3-B57D-E35023C366AA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15161038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ítulo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/>
              <a:t>Clique para editar o título mestre</a:t>
            </a:r>
            <a:endParaRPr lang="de-DE"/>
          </a:p>
        </p:txBody>
      </p:sp>
      <p:sp>
        <p:nvSpPr>
          <p:cNvPr id="3" name="Espaço Reservado para Texto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Clique para editar 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de-DE"/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0E51C7C-CEA3-4CAA-BE4B-344879E7C377}" type="datetimeFigureOut">
              <a:rPr lang="de-DE" smtClean="0"/>
              <a:t>28.10.2025</a:t>
            </a:fld>
            <a:endParaRPr lang="de-DE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de-DE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54FE2FE-B55E-4328-8F5C-2CEB8781A47B}" type="slidenum">
              <a:rPr lang="de-DE" smtClean="0"/>
              <a:t>‹nº›</a:t>
            </a:fld>
            <a:endParaRPr lang="de-DE"/>
          </a:p>
        </p:txBody>
      </p:sp>
      <p:sp>
        <p:nvSpPr>
          <p:cNvPr id="8" name="CaixaDeTexto 7">
            <a:extLst>
              <a:ext uri="{FF2B5EF4-FFF2-40B4-BE49-F238E27FC236}">
                <a16:creationId xmlns:a16="http://schemas.microsoft.com/office/drawing/2014/main" id="{AEC28060-5CA8-7444-8DB3-EAF311006C7C}"/>
              </a:ext>
            </a:extLst>
          </p:cNvPr>
          <p:cNvSpPr txBox="1"/>
          <p:nvPr>
            <p:extLst>
              <p:ext uri="{1162E1C5-73C7-4A58-AE30-91384D911F3F}">
                <p184:classification xmlns:p184="http://schemas.microsoft.com/office/powerpoint/2018/4/main" val="hdr"/>
              </p:ext>
            </p:extLst>
          </p:nvPr>
        </p:nvSpPr>
        <p:spPr>
          <a:xfrm>
            <a:off x="63500" y="63500"/>
            <a:ext cx="1143000" cy="152400"/>
          </a:xfrm>
          <a:prstGeom prst="rect">
            <a:avLst/>
          </a:prstGeom>
        </p:spPr>
        <p:txBody>
          <a:bodyPr horzOverflow="overflow" lIns="0" tIns="0" rIns="0" bIns="0">
            <a:spAutoFit/>
          </a:bodyPr>
          <a:lstStyle/>
          <a:p>
            <a:pPr algn="l"/>
            <a:r>
              <a:rPr lang="pt-BR" sz="1000">
                <a:solidFill>
                  <a:srgbClr val="FF0000">
                    <a:alpha val="50000"/>
                  </a:srgb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Classificação: Restrito</a:t>
            </a:r>
          </a:p>
        </p:txBody>
      </p:sp>
    </p:spTree>
    <p:extLst>
      <p:ext uri="{BB962C8B-B14F-4D97-AF65-F5344CB8AC3E}">
        <p14:creationId xmlns:p14="http://schemas.microsoft.com/office/powerpoint/2010/main" val="36576759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diagramLayout" Target="../diagrams/layout1.xml"/><Relationship Id="rId7" Type="http://schemas.openxmlformats.org/officeDocument/2006/relationships/image" Target="../media/image5.jpg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11" Type="http://schemas.openxmlformats.org/officeDocument/2006/relationships/image" Target="../media/image9.png"/><Relationship Id="rId5" Type="http://schemas.openxmlformats.org/officeDocument/2006/relationships/diagramColors" Target="../diagrams/colors1.xml"/><Relationship Id="rId10" Type="http://schemas.openxmlformats.org/officeDocument/2006/relationships/image" Target="../media/image8.png"/><Relationship Id="rId4" Type="http://schemas.openxmlformats.org/officeDocument/2006/relationships/diagramQuickStyle" Target="../diagrams/quickStyle1.xml"/><Relationship Id="rId9" Type="http://schemas.openxmlformats.org/officeDocument/2006/relationships/image" Target="../media/image7.png"/></Relationships>
</file>

<file path=ppt/slides/_rels/slide3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jpg"/><Relationship Id="rId5" Type="http://schemas.microsoft.com/office/2007/relationships/hdphoto" Target="../media/hdphoto2.wdp"/><Relationship Id="rId4" Type="http://schemas.openxmlformats.org/officeDocument/2006/relationships/image" Target="../media/image11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2.xml"/><Relationship Id="rId7" Type="http://schemas.openxmlformats.org/officeDocument/2006/relationships/image" Target="../media/image5.jpg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4" Type="http://schemas.openxmlformats.org/officeDocument/2006/relationships/diagramQuickStyle" Target="../diagrams/quickStyle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jpg"/><Relationship Id="rId2" Type="http://schemas.openxmlformats.org/officeDocument/2006/relationships/image" Target="../media/image5.jp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jpg"/><Relationship Id="rId2" Type="http://schemas.openxmlformats.org/officeDocument/2006/relationships/image" Target="../media/image5.jp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1" name="Rectangle 30">
            <a:extLst>
              <a:ext uri="{FF2B5EF4-FFF2-40B4-BE49-F238E27FC236}">
                <a16:creationId xmlns:a16="http://schemas.microsoft.com/office/drawing/2014/main" id="{0671A8AE-40A1-4631-A6B8-581AFF06548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0B0004020202020204"/>
              <a:ea typeface="+mn-ea"/>
              <a:cs typeface="+mn-cs"/>
            </a:endParaRPr>
          </a:p>
        </p:txBody>
      </p:sp>
      <p:pic>
        <p:nvPicPr>
          <p:cNvPr id="5" name="Imagem 4">
            <a:extLst>
              <a:ext uri="{FF2B5EF4-FFF2-40B4-BE49-F238E27FC236}">
                <a16:creationId xmlns:a16="http://schemas.microsoft.com/office/drawing/2014/main" id="{B5FF6015-4109-6CD7-D0E5-2B1ED1932ED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7037" r="18512"/>
          <a:stretch>
            <a:fillRect/>
          </a:stretch>
        </p:blipFill>
        <p:spPr>
          <a:xfrm>
            <a:off x="3717451" y="10"/>
            <a:ext cx="8474546" cy="6857990"/>
          </a:xfrm>
          <a:prstGeom prst="rect">
            <a:avLst/>
          </a:prstGeom>
        </p:spPr>
      </p:pic>
      <p:sp>
        <p:nvSpPr>
          <p:cNvPr id="33" name="Rectangle 32">
            <a:extLst>
              <a:ext uri="{FF2B5EF4-FFF2-40B4-BE49-F238E27FC236}">
                <a16:creationId xmlns:a16="http://schemas.microsoft.com/office/drawing/2014/main" id="{AB58EF07-17C2-48CF-ABB0-EEF1F17CB8F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" y="0"/>
            <a:ext cx="9339206" cy="6858000"/>
          </a:xfrm>
          <a:prstGeom prst="rect">
            <a:avLst/>
          </a:prstGeom>
          <a:gradFill>
            <a:gsLst>
              <a:gs pos="58000">
                <a:schemeClr val="tx1"/>
              </a:gs>
              <a:gs pos="33000">
                <a:schemeClr val="tx1">
                  <a:alpha val="64000"/>
                </a:schemeClr>
              </a:gs>
              <a:gs pos="0">
                <a:schemeClr val="tx1">
                  <a:alpha val="0"/>
                </a:schemeClr>
              </a:gs>
              <a:gs pos="100000">
                <a:schemeClr val="tx1"/>
              </a:gs>
            </a:gsLst>
            <a:lin ang="10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0B0004020202020204"/>
              <a:ea typeface="+mn-ea"/>
              <a:cs typeface="+mn-cs"/>
            </a:endParaRPr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AF2F604E-43BE-4DC3-B983-E071523364F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759921" y="346791"/>
            <a:ext cx="146304" cy="70408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08C9B587-E65E-4B52-B37C-ABEBB6E879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81029" y="4546920"/>
            <a:ext cx="3977640" cy="18288"/>
          </a:xfrm>
          <a:prstGeom prst="rect">
            <a:avLst/>
          </a:prstGeom>
          <a:solidFill>
            <a:schemeClr val="tx1"/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ítulo 1"/>
          <p:cNvSpPr>
            <a:spLocks noGrp="1"/>
          </p:cNvSpPr>
          <p:nvPr>
            <p:ph type="ctrTitle"/>
          </p:nvPr>
        </p:nvSpPr>
        <p:spPr>
          <a:xfrm>
            <a:off x="241472" y="190723"/>
            <a:ext cx="2786716" cy="2308241"/>
          </a:xfrm>
        </p:spPr>
        <p:txBody>
          <a:bodyPr anchor="b">
            <a:normAutofit/>
          </a:bodyPr>
          <a:lstStyle/>
          <a:p>
            <a:pPr algn="l"/>
            <a:r>
              <a:rPr lang="de-DE" sz="4800" dirty="0">
                <a:solidFill>
                  <a:schemeClr val="tx2">
                    <a:lumMod val="49000"/>
                    <a:lumOff val="51000"/>
                  </a:schemeClr>
                </a:solidFill>
                <a:ea typeface="+mj-lt"/>
                <a:cs typeface="+mj-lt"/>
              </a:rPr>
              <a:t>MetaMind AI Agents</a:t>
            </a:r>
            <a:endParaRPr lang="pt-BR" dirty="0">
              <a:solidFill>
                <a:schemeClr val="tx2">
                  <a:lumMod val="49000"/>
                  <a:lumOff val="51000"/>
                </a:schemeClr>
              </a:solidFill>
            </a:endParaRPr>
          </a:p>
        </p:txBody>
      </p:sp>
      <p:sp>
        <p:nvSpPr>
          <p:cNvPr id="7" name="Título 3">
            <a:extLst>
              <a:ext uri="{FF2B5EF4-FFF2-40B4-BE49-F238E27FC236}">
                <a16:creationId xmlns:a16="http://schemas.microsoft.com/office/drawing/2014/main" id="{9015CC98-DD51-7C84-36B3-D3E5E3F7D156}"/>
              </a:ext>
            </a:extLst>
          </p:cNvPr>
          <p:cNvSpPr txBox="1">
            <a:spLocks/>
          </p:cNvSpPr>
          <p:nvPr/>
        </p:nvSpPr>
        <p:spPr>
          <a:xfrm>
            <a:off x="282633" y="3324225"/>
            <a:ext cx="5279967" cy="1692078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pt-BR" sz="3600" b="1" dirty="0">
                <a:solidFill>
                  <a:schemeClr val="bg1"/>
                </a:solidFill>
                <a:latin typeface="Inter" panose="02000503000000020004" pitchFamily="2" charset="0"/>
                <a:ea typeface="Inter" panose="02000503000000020004" pitchFamily="2" charset="0"/>
              </a:rPr>
              <a:t>Chega de perder tempo e dinheiro com notas fiscais</a:t>
            </a:r>
          </a:p>
        </p:txBody>
      </p:sp>
      <p:sp>
        <p:nvSpPr>
          <p:cNvPr id="8" name="Subtítulo 4">
            <a:extLst>
              <a:ext uri="{FF2B5EF4-FFF2-40B4-BE49-F238E27FC236}">
                <a16:creationId xmlns:a16="http://schemas.microsoft.com/office/drawing/2014/main" id="{1DA7AAE7-CDCC-1969-ABF4-F1A892B86B1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82632" y="5228450"/>
            <a:ext cx="5988859" cy="962588"/>
          </a:xfrm>
        </p:spPr>
        <p:txBody>
          <a:bodyPr>
            <a:normAutofit fontScale="92500" lnSpcReduction="10000"/>
          </a:bodyPr>
          <a:lstStyle/>
          <a:p>
            <a:pPr algn="l"/>
            <a:r>
              <a:rPr lang="pt-BR" dirty="0">
                <a:solidFill>
                  <a:schemeClr val="bg1"/>
                </a:solidFill>
                <a:latin typeface="Inter" panose="02000503000000020004" pitchFamily="2" charset="0"/>
                <a:ea typeface="Inter" panose="02000503000000020004" pitchFamily="2" charset="0"/>
              </a:rPr>
              <a:t>Automatize sua prestação de contas, elimine erros e foque no que realmente importa.</a:t>
            </a:r>
          </a:p>
        </p:txBody>
      </p:sp>
      <p:sp>
        <p:nvSpPr>
          <p:cNvPr id="4" name="Retângulo 3">
            <a:extLst>
              <a:ext uri="{FF2B5EF4-FFF2-40B4-BE49-F238E27FC236}">
                <a16:creationId xmlns:a16="http://schemas.microsoft.com/office/drawing/2014/main" id="{16334F88-16BE-2CED-6838-552CCA8B3CBD}"/>
              </a:ext>
            </a:extLst>
          </p:cNvPr>
          <p:cNvSpPr/>
          <p:nvPr/>
        </p:nvSpPr>
        <p:spPr>
          <a:xfrm>
            <a:off x="282632" y="512913"/>
            <a:ext cx="1430481" cy="371844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21086655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F11452C-CD11-82A2-B362-AA23498201A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503669"/>
            <a:ext cx="8648700" cy="1325563"/>
          </a:xfrm>
        </p:spPr>
        <p:txBody>
          <a:bodyPr>
            <a:normAutofit fontScale="90000"/>
          </a:bodyPr>
          <a:lstStyle/>
          <a:p>
            <a:r>
              <a:rPr lang="pt-BR" sz="3200" b="1" dirty="0">
                <a:latin typeface="Inter" panose="02000503000000020004" pitchFamily="2" charset="0"/>
                <a:ea typeface="Inter" panose="02000503000000020004" pitchFamily="2" charset="0"/>
              </a:rPr>
              <a:t>Problema</a:t>
            </a:r>
            <a:br>
              <a:rPr lang="pt-BR" sz="3200" b="1" dirty="0">
                <a:latin typeface="Inter" panose="02000503000000020004" pitchFamily="2" charset="0"/>
                <a:ea typeface="Inter" panose="02000503000000020004" pitchFamily="2" charset="0"/>
              </a:rPr>
            </a:br>
            <a:r>
              <a:rPr lang="pt-BR" sz="3200" b="1" dirty="0">
                <a:latin typeface="Inter" panose="02000503000000020004" pitchFamily="2" charset="0"/>
                <a:ea typeface="Inter" panose="02000503000000020004" pitchFamily="2" charset="0"/>
              </a:rPr>
              <a:t>O custo operacional oculto e riscos do processo manual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7F5A68F1-0EEB-6DAF-F169-48F3FC525B3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3239655"/>
            <a:ext cx="10515600" cy="293730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pt-BR" sz="2000" b="1" dirty="0">
                <a:latin typeface="Inter" panose="02000503000000020004" pitchFamily="2" charset="0"/>
                <a:ea typeface="Inter" panose="02000503000000020004" pitchFamily="2" charset="0"/>
              </a:rPr>
              <a:t>Os Números Não Mentem:</a:t>
            </a:r>
            <a:endParaRPr lang="pt-BR" sz="2000" dirty="0">
              <a:latin typeface="Inter" panose="02000503000000020004" pitchFamily="2" charset="0"/>
              <a:ea typeface="Inter" panose="02000503000000020004" pitchFamily="2" charset="0"/>
            </a:endParaRPr>
          </a:p>
        </p:txBody>
      </p:sp>
      <p:graphicFrame>
        <p:nvGraphicFramePr>
          <p:cNvPr id="4" name="Diagrama 3">
            <a:extLst>
              <a:ext uri="{FF2B5EF4-FFF2-40B4-BE49-F238E27FC236}">
                <a16:creationId xmlns:a16="http://schemas.microsoft.com/office/drawing/2014/main" id="{B70592EB-CB06-E40C-9DE7-5A30219487A9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699709169"/>
              </p:ext>
            </p:extLst>
          </p:nvPr>
        </p:nvGraphicFramePr>
        <p:xfrm>
          <a:off x="1579418" y="3239655"/>
          <a:ext cx="9033164" cy="384694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7" name="Retângulo: Cantos Arredondados 6">
            <a:extLst>
              <a:ext uri="{FF2B5EF4-FFF2-40B4-BE49-F238E27FC236}">
                <a16:creationId xmlns:a16="http://schemas.microsoft.com/office/drawing/2014/main" id="{2342ACE5-2E53-FFED-CFAE-599884AE2281}"/>
              </a:ext>
            </a:extLst>
          </p:cNvPr>
          <p:cNvSpPr/>
          <p:nvPr/>
        </p:nvSpPr>
        <p:spPr>
          <a:xfrm>
            <a:off x="914401" y="365125"/>
            <a:ext cx="1619250" cy="116378"/>
          </a:xfrm>
          <a:prstGeom prst="roundRect">
            <a:avLst>
              <a:gd name="adj" fmla="val 50000"/>
            </a:avLst>
          </a:pr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pic>
        <p:nvPicPr>
          <p:cNvPr id="8" name="Imagem 7">
            <a:extLst>
              <a:ext uri="{FF2B5EF4-FFF2-40B4-BE49-F238E27FC236}">
                <a16:creationId xmlns:a16="http://schemas.microsoft.com/office/drawing/2014/main" id="{47807AA3-9692-89EB-8377-CBEB6CE05D96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393283" y="6062663"/>
            <a:ext cx="770792" cy="770792"/>
          </a:xfrm>
          <a:prstGeom prst="rect">
            <a:avLst/>
          </a:prstGeom>
        </p:spPr>
      </p:pic>
      <p:grpSp>
        <p:nvGrpSpPr>
          <p:cNvPr id="15" name="Agrupar 14">
            <a:extLst>
              <a:ext uri="{FF2B5EF4-FFF2-40B4-BE49-F238E27FC236}">
                <a16:creationId xmlns:a16="http://schemas.microsoft.com/office/drawing/2014/main" id="{BB6F90C6-1BA2-5E88-1F2E-6435C3A394FD}"/>
              </a:ext>
            </a:extLst>
          </p:cNvPr>
          <p:cNvGrpSpPr/>
          <p:nvPr/>
        </p:nvGrpSpPr>
        <p:grpSpPr>
          <a:xfrm>
            <a:off x="908261" y="1956465"/>
            <a:ext cx="10375479" cy="752885"/>
            <a:chOff x="838200" y="1804065"/>
            <a:chExt cx="10375479" cy="752885"/>
          </a:xfrm>
        </p:grpSpPr>
        <p:pic>
          <p:nvPicPr>
            <p:cNvPr id="5" name="Imagem 4">
              <a:extLst>
                <a:ext uri="{FF2B5EF4-FFF2-40B4-BE49-F238E27FC236}">
                  <a16:creationId xmlns:a16="http://schemas.microsoft.com/office/drawing/2014/main" id="{D677CEF5-E283-881D-8441-8192324B76E5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838200" y="1804065"/>
              <a:ext cx="492963" cy="516951"/>
            </a:xfrm>
            <a:prstGeom prst="rect">
              <a:avLst/>
            </a:prstGeom>
          </p:spPr>
        </p:pic>
        <p:sp>
          <p:nvSpPr>
            <p:cNvPr id="6" name="CaixaDeTexto 5">
              <a:extLst>
                <a:ext uri="{FF2B5EF4-FFF2-40B4-BE49-F238E27FC236}">
                  <a16:creationId xmlns:a16="http://schemas.microsoft.com/office/drawing/2014/main" id="{5FC4C270-0158-B11F-AA65-7D14FDA5510D}"/>
                </a:ext>
              </a:extLst>
            </p:cNvPr>
            <p:cNvSpPr txBox="1"/>
            <p:nvPr/>
          </p:nvSpPr>
          <p:spPr>
            <a:xfrm>
              <a:off x="1331163" y="1849064"/>
              <a:ext cx="2374062" cy="400110"/>
            </a:xfrm>
            <a:prstGeom prst="rect">
              <a:avLst/>
            </a:prstGeom>
            <a:noFill/>
          </p:spPr>
          <p:txBody>
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<a:prstTxWarp prst="textNoShape">
                <a:avLst/>
              </a:prstTxWarp>
              <a:spAutoFit/>
            </a:bodyPr>
            <a:lstStyle/>
            <a:p>
              <a:r>
                <a:rPr lang="pt-BR" sz="1000" b="1" dirty="0">
                  <a:solidFill>
                    <a:prstClr val="black"/>
                  </a:solidFill>
                  <a:latin typeface="Aptos" panose="020B0004020202020204"/>
                </a:rPr>
                <a:t>Preenchimento do formulário no sistema </a:t>
              </a:r>
              <a:r>
                <a:rPr lang="pt-BR" sz="1000" b="1" dirty="0" err="1">
                  <a:solidFill>
                    <a:prstClr val="black"/>
                  </a:solidFill>
                  <a:latin typeface="Aptos" panose="020B0004020202020204"/>
                </a:rPr>
                <a:t>Paytrack</a:t>
              </a:r>
              <a:r>
                <a:rPr lang="pt-BR" sz="1000" b="1" dirty="0">
                  <a:solidFill>
                    <a:prstClr val="black"/>
                  </a:solidFill>
                  <a:latin typeface="Aptos" panose="020B0004020202020204"/>
                </a:rPr>
                <a:t>, demorado.  </a:t>
              </a:r>
            </a:p>
          </p:txBody>
        </p:sp>
        <p:sp>
          <p:nvSpPr>
            <p:cNvPr id="9" name="CaixaDeTexto 8">
              <a:extLst>
                <a:ext uri="{FF2B5EF4-FFF2-40B4-BE49-F238E27FC236}">
                  <a16:creationId xmlns:a16="http://schemas.microsoft.com/office/drawing/2014/main" id="{3B752172-B8EA-C84B-A92F-CCC14A51E321}"/>
                </a:ext>
              </a:extLst>
            </p:cNvPr>
            <p:cNvSpPr txBox="1"/>
            <p:nvPr/>
          </p:nvSpPr>
          <p:spPr>
            <a:xfrm>
              <a:off x="4321835" y="1849064"/>
              <a:ext cx="1774166" cy="553998"/>
            </a:xfrm>
            <a:prstGeom prst="rect">
              <a:avLst/>
            </a:prstGeom>
            <a:noFill/>
          </p:spPr>
          <p:txBody>
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<a:prstTxWarp prst="textNoShape">
                <a:avLst/>
              </a:prstTxWarp>
              <a:spAutoFit/>
            </a:bodyPr>
            <a:lstStyle/>
            <a:p>
              <a:r>
                <a:rPr lang="pt-BR" sz="1000" b="1" dirty="0">
                  <a:solidFill>
                    <a:prstClr val="black"/>
                  </a:solidFill>
                  <a:latin typeface="Aptos" panose="020B0004020202020204"/>
                  <a:ea typeface="+mn-lt"/>
                  <a:cs typeface="+mn-lt"/>
                </a:rPr>
                <a:t>Processo factível a erros e inconsistências</a:t>
              </a:r>
              <a:endParaRPr lang="pt-BR" sz="1000" b="1" dirty="0">
                <a:solidFill>
                  <a:prstClr val="black"/>
                </a:solidFill>
                <a:latin typeface="Aptos" panose="020B0004020202020204"/>
              </a:endParaRPr>
            </a:p>
            <a:p>
              <a:endParaRPr lang="pt-BR" sz="1000" b="1" dirty="0">
                <a:solidFill>
                  <a:prstClr val="black"/>
                </a:solidFill>
                <a:latin typeface="Aptos" panose="020B0004020202020204"/>
              </a:endParaRPr>
            </a:p>
          </p:txBody>
        </p:sp>
        <p:pic>
          <p:nvPicPr>
            <p:cNvPr id="10" name="Imagem 9">
              <a:extLst>
                <a:ext uri="{FF2B5EF4-FFF2-40B4-BE49-F238E27FC236}">
                  <a16:creationId xmlns:a16="http://schemas.microsoft.com/office/drawing/2014/main" id="{CCB0D133-879C-4100-CFA1-D395530E399C}"/>
                </a:ext>
              </a:extLst>
            </p:cNvPr>
            <p:cNvPicPr>
              <a:picLocks noChangeAspect="1"/>
            </p:cNvPicPr>
            <p:nvPr/>
          </p:nvPicPr>
          <p:blipFill>
            <a:blip r:embed="rId9"/>
            <a:stretch>
              <a:fillRect/>
            </a:stretch>
          </p:blipFill>
          <p:spPr>
            <a:xfrm>
              <a:off x="3819525" y="1804065"/>
              <a:ext cx="493200" cy="510773"/>
            </a:xfrm>
            <a:prstGeom prst="rect">
              <a:avLst/>
            </a:prstGeom>
          </p:spPr>
        </p:pic>
        <p:pic>
          <p:nvPicPr>
            <p:cNvPr id="11" name="Content Placeholder 4">
              <a:extLst>
                <a:ext uri="{FF2B5EF4-FFF2-40B4-BE49-F238E27FC236}">
                  <a16:creationId xmlns:a16="http://schemas.microsoft.com/office/drawing/2014/main" id="{2E2ED8D4-0D5A-9392-7966-A8A7F9DBC3E2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/>
            <a:stretch>
              <a:fillRect/>
            </a:stretch>
          </p:blipFill>
          <p:spPr>
            <a:xfrm>
              <a:off x="6240674" y="1804065"/>
              <a:ext cx="493200" cy="493200"/>
            </a:xfrm>
            <a:prstGeom prst="rect">
              <a:avLst/>
            </a:prstGeom>
          </p:spPr>
        </p:pic>
        <p:sp>
          <p:nvSpPr>
            <p:cNvPr id="12" name="CaixaDeTexto 11">
              <a:extLst>
                <a:ext uri="{FF2B5EF4-FFF2-40B4-BE49-F238E27FC236}">
                  <a16:creationId xmlns:a16="http://schemas.microsoft.com/office/drawing/2014/main" id="{64FF40FD-102C-C1B8-C719-2F7642406173}"/>
                </a:ext>
              </a:extLst>
            </p:cNvPr>
            <p:cNvSpPr txBox="1"/>
            <p:nvPr/>
          </p:nvSpPr>
          <p:spPr>
            <a:xfrm>
              <a:off x="6801087" y="1849064"/>
              <a:ext cx="1942863" cy="553998"/>
            </a:xfrm>
            <a:prstGeom prst="rect">
              <a:avLst/>
            </a:prstGeom>
            <a:noFill/>
          </p:spPr>
          <p:txBody>
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<a:prstTxWarp prst="textNoShape">
                <a:avLst/>
              </a:prstTxWarp>
              <a:spAutoFit/>
            </a:bodyPr>
            <a:lstStyle/>
            <a:p>
              <a:r>
                <a:rPr lang="pt-BR" sz="1000" b="1" dirty="0">
                  <a:solidFill>
                    <a:prstClr val="black"/>
                  </a:solidFill>
                  <a:latin typeface="Aptos" panose="020B0004020202020204"/>
                  <a:ea typeface="+mn-lt"/>
                  <a:cs typeface="+mn-lt"/>
                </a:rPr>
                <a:t>Riscos que podem inviabilizar o pagamento do reembolso.</a:t>
              </a:r>
            </a:p>
            <a:p>
              <a:endParaRPr lang="pt-BR" sz="1000" dirty="0">
                <a:solidFill>
                  <a:prstClr val="black"/>
                </a:solidFill>
                <a:latin typeface="Aptos" panose="020B0004020202020204"/>
              </a:endParaRPr>
            </a:p>
          </p:txBody>
        </p:sp>
        <p:pic>
          <p:nvPicPr>
            <p:cNvPr id="13" name="Imagem 12">
              <a:extLst>
                <a:ext uri="{FF2B5EF4-FFF2-40B4-BE49-F238E27FC236}">
                  <a16:creationId xmlns:a16="http://schemas.microsoft.com/office/drawing/2014/main" id="{9AD21AA6-D203-4B7A-7CE9-B16A1FD0B2EE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/>
            <a:stretch>
              <a:fillRect/>
            </a:stretch>
          </p:blipFill>
          <p:spPr>
            <a:xfrm>
              <a:off x="8859648" y="1804065"/>
              <a:ext cx="511200" cy="511200"/>
            </a:xfrm>
            <a:prstGeom prst="rect">
              <a:avLst/>
            </a:prstGeom>
          </p:spPr>
        </p:pic>
        <p:sp>
          <p:nvSpPr>
            <p:cNvPr id="14" name="CaixaDeTexto 13">
              <a:extLst>
                <a:ext uri="{FF2B5EF4-FFF2-40B4-BE49-F238E27FC236}">
                  <a16:creationId xmlns:a16="http://schemas.microsoft.com/office/drawing/2014/main" id="{D25B1171-C050-171F-A35E-05D18FF9064C}"/>
                </a:ext>
              </a:extLst>
            </p:cNvPr>
            <p:cNvSpPr txBox="1"/>
            <p:nvPr/>
          </p:nvSpPr>
          <p:spPr>
            <a:xfrm>
              <a:off x="9439513" y="1849064"/>
              <a:ext cx="1774166" cy="707886"/>
            </a:xfrm>
            <a:prstGeom prst="rect">
              <a:avLst/>
            </a:prstGeom>
            <a:noFill/>
          </p:spPr>
          <p:txBody>
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<a:prstTxWarp prst="textNoShape">
                <a:avLst/>
              </a:prstTxWarp>
              <a:spAutoFit/>
            </a:bodyPr>
            <a:lstStyle/>
            <a:p>
              <a:r>
                <a:rPr lang="pt-BR" sz="1000" b="1" dirty="0">
                  <a:solidFill>
                    <a:prstClr val="black"/>
                  </a:solidFill>
                  <a:latin typeface="Aptos" panose="020B0004020202020204"/>
                  <a:ea typeface="+mn-lt"/>
                  <a:cs typeface="+mn-lt"/>
                </a:rPr>
                <a:t>Impactos negativos para a empresa e seus colaboradores</a:t>
              </a:r>
            </a:p>
            <a:p>
              <a:endParaRPr lang="pt-BR" sz="1000" dirty="0">
                <a:solidFill>
                  <a:prstClr val="black"/>
                </a:solidFill>
                <a:latin typeface="Aptos" panose="020B0004020202020204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59002097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AE7A14-A19C-967B-039F-79E412360E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FF5F695-B58B-5CF8-2C84-E6C506F7064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7304314" cy="1325563"/>
          </a:xfrm>
        </p:spPr>
        <p:txBody>
          <a:bodyPr>
            <a:normAutofit/>
          </a:bodyPr>
          <a:lstStyle/>
          <a:p>
            <a:r>
              <a:rPr lang="pt-BR" sz="3200" b="1" dirty="0">
                <a:latin typeface="Inter" panose="02000503000000020004" pitchFamily="2" charset="0"/>
                <a:ea typeface="Inter" panose="02000503000000020004" pitchFamily="2" charset="0"/>
              </a:rPr>
              <a:t>Solução</a:t>
            </a:r>
            <a:br>
              <a:rPr lang="pt-BR" sz="3200" b="1" dirty="0">
                <a:latin typeface="Inter" panose="02000503000000020004" pitchFamily="2" charset="0"/>
                <a:ea typeface="Inter" panose="02000503000000020004" pitchFamily="2" charset="0"/>
              </a:rPr>
            </a:br>
            <a:r>
              <a:rPr lang="pt-BR" sz="3200" b="1" dirty="0">
                <a:latin typeface="Inter" panose="02000503000000020004" pitchFamily="2" charset="0"/>
                <a:ea typeface="Inter" panose="02000503000000020004" pitchFamily="2" charset="0"/>
              </a:rPr>
              <a:t>A inteligência que trabalha por você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B6FE7BB7-BB8C-B987-4116-37BB567BBB2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168497" cy="1147199"/>
          </a:xfrm>
        </p:spPr>
        <p:txBody>
          <a:bodyPr>
            <a:normAutofit fontScale="92500" lnSpcReduction="10000"/>
          </a:bodyPr>
          <a:lstStyle/>
          <a:p>
            <a:pPr marL="0" indent="0" algn="just">
              <a:buNone/>
            </a:pPr>
            <a:r>
              <a:rPr lang="pt-BR" sz="1800" dirty="0">
                <a:latin typeface="Inter" panose="02000503000000020004" pitchFamily="2" charset="0"/>
                <a:ea typeface="Inter" panose="02000503000000020004" pitchFamily="2" charset="0"/>
              </a:rPr>
              <a:t>Apresentamos um sistema inteligente de IA que automatiza 100% do trabalho manual, transformando a tarefa mais temida do mês em uma experiência simples, rápida e a prova de erros.</a:t>
            </a:r>
          </a:p>
          <a:p>
            <a:pPr marL="0" indent="0" algn="just">
              <a:buNone/>
            </a:pPr>
            <a:endParaRPr lang="pt-BR" sz="1800" dirty="0">
              <a:latin typeface="Inter" panose="02000503000000020004" pitchFamily="2" charset="0"/>
              <a:ea typeface="Inter" panose="02000503000000020004" pitchFamily="2" charset="0"/>
            </a:endParaRPr>
          </a:p>
          <a:p>
            <a:pPr marL="0" indent="0" algn="just">
              <a:buNone/>
            </a:pPr>
            <a:endParaRPr lang="pt-BR" sz="1800" b="1" dirty="0">
              <a:latin typeface="Inter" panose="02000503000000020004" pitchFamily="2" charset="0"/>
              <a:ea typeface="Inter" panose="02000503000000020004" pitchFamily="2" charset="0"/>
            </a:endParaRPr>
          </a:p>
        </p:txBody>
      </p:sp>
      <p:sp>
        <p:nvSpPr>
          <p:cNvPr id="5" name="Retângulo: Cantos Arredondados 4">
            <a:extLst>
              <a:ext uri="{FF2B5EF4-FFF2-40B4-BE49-F238E27FC236}">
                <a16:creationId xmlns:a16="http://schemas.microsoft.com/office/drawing/2014/main" id="{4E91DF85-C096-0443-6D3D-4911525A10C6}"/>
              </a:ext>
            </a:extLst>
          </p:cNvPr>
          <p:cNvSpPr/>
          <p:nvPr/>
        </p:nvSpPr>
        <p:spPr>
          <a:xfrm>
            <a:off x="914401" y="365125"/>
            <a:ext cx="1619250" cy="116378"/>
          </a:xfrm>
          <a:prstGeom prst="roundRect">
            <a:avLst>
              <a:gd name="adj" fmla="val 50000"/>
            </a:avLst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pic>
        <p:nvPicPr>
          <p:cNvPr id="7" name="Imagem 6">
            <a:extLst>
              <a:ext uri="{FF2B5EF4-FFF2-40B4-BE49-F238E27FC236}">
                <a16:creationId xmlns:a16="http://schemas.microsoft.com/office/drawing/2014/main" id="{9A8AA44B-16BD-F5D1-4776-AFFA964745F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sharpenSoften amount="5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7177" t="11282" r="6239" b="17436"/>
          <a:stretch>
            <a:fillRect/>
          </a:stretch>
        </p:blipFill>
        <p:spPr>
          <a:xfrm>
            <a:off x="6201509" y="1449271"/>
            <a:ext cx="5767754" cy="5217253"/>
          </a:xfrm>
          <a:prstGeom prst="rect">
            <a:avLst/>
          </a:prstGeom>
        </p:spPr>
      </p:pic>
      <p:pic>
        <p:nvPicPr>
          <p:cNvPr id="2052" name="Picture 4" descr="Hand Holding Light Bulb PNG Transparent Images Free Download | Vector Files  | Pngtree">
            <a:extLst>
              <a:ext uri="{FF2B5EF4-FFF2-40B4-BE49-F238E27FC236}">
                <a16:creationId xmlns:a16="http://schemas.microsoft.com/office/drawing/2014/main" id="{67B5B329-56F3-68A5-3C24-22C1B1A9EED7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colorTemperature colorTemp="88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42872"/>
          <a:stretch>
            <a:fillRect/>
          </a:stretch>
        </p:blipFill>
        <p:spPr bwMode="auto">
          <a:xfrm>
            <a:off x="0" y="4297470"/>
            <a:ext cx="2295525" cy="283871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CaixaDeTexto 3">
            <a:extLst>
              <a:ext uri="{FF2B5EF4-FFF2-40B4-BE49-F238E27FC236}">
                <a16:creationId xmlns:a16="http://schemas.microsoft.com/office/drawing/2014/main" id="{67AF3B46-5ACA-0B1A-14AB-E4213DD9F696}"/>
              </a:ext>
            </a:extLst>
          </p:cNvPr>
          <p:cNvSpPr txBox="1"/>
          <p:nvPr/>
        </p:nvSpPr>
        <p:spPr>
          <a:xfrm>
            <a:off x="2813540" y="4465731"/>
            <a:ext cx="4196859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pt-BR" sz="2000" dirty="0">
                <a:latin typeface="Inter" panose="02000503000000020004" pitchFamily="2" charset="0"/>
                <a:ea typeface="Inter" panose="02000503000000020004" pitchFamily="2" charset="0"/>
              </a:rPr>
              <a:t>Seu único trabalho é tirar a foto. Nós fazemos todo o resto.</a:t>
            </a:r>
          </a:p>
        </p:txBody>
      </p:sp>
      <p:pic>
        <p:nvPicPr>
          <p:cNvPr id="6" name="Imagem 5">
            <a:extLst>
              <a:ext uri="{FF2B5EF4-FFF2-40B4-BE49-F238E27FC236}">
                <a16:creationId xmlns:a16="http://schemas.microsoft.com/office/drawing/2014/main" id="{B479290A-D8C4-C8DA-C8B9-0D5F3F329927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393283" y="6062663"/>
            <a:ext cx="770792" cy="7707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9065277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1E06CB-7302-F4E4-C8FD-FD59F2656C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32AAA0C-431C-A6F1-4ABE-4712021C9C7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7304314" cy="1325563"/>
          </a:xfrm>
        </p:spPr>
        <p:txBody>
          <a:bodyPr>
            <a:normAutofit/>
          </a:bodyPr>
          <a:lstStyle/>
          <a:p>
            <a:r>
              <a:rPr lang="pt-BR" sz="3200" b="1" dirty="0">
                <a:latin typeface="Inter" panose="02000503000000020004" pitchFamily="2" charset="0"/>
                <a:ea typeface="Inter" panose="02000503000000020004" pitchFamily="2" charset="0"/>
              </a:rPr>
              <a:t>Mercado</a:t>
            </a:r>
            <a:br>
              <a:rPr lang="pt-BR" sz="3200" b="1" dirty="0">
                <a:latin typeface="Inter" panose="02000503000000020004" pitchFamily="2" charset="0"/>
                <a:ea typeface="Inter" panose="02000503000000020004" pitchFamily="2" charset="0"/>
              </a:rPr>
            </a:br>
            <a:r>
              <a:rPr lang="pt-BR" sz="3200" b="1" dirty="0">
                <a:latin typeface="Inter" panose="02000503000000020004" pitchFamily="2" charset="0"/>
                <a:ea typeface="Inter" panose="02000503000000020004" pitchFamily="2" charset="0"/>
              </a:rPr>
              <a:t>Um oceano azul de oportunidades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A097ABCF-213E-B34D-21B8-C76F1B44B8A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9595338" cy="160337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pt-BR" sz="2000" dirty="0">
                <a:latin typeface="Inter" panose="02000503000000020004" pitchFamily="2" charset="0"/>
                <a:ea typeface="Inter" panose="02000503000000020004" pitchFamily="2" charset="0"/>
              </a:rPr>
              <a:t>O mercado para nossa solução é vasto e urgente. Toda empresa que adota uma política de reembolso é um cliente em potencial.</a:t>
            </a:r>
          </a:p>
          <a:p>
            <a:pPr marL="0" indent="0">
              <a:buNone/>
            </a:pPr>
            <a:endParaRPr lang="pt-BR" sz="2000" dirty="0">
              <a:latin typeface="Inter" panose="02000503000000020004" pitchFamily="2" charset="0"/>
              <a:ea typeface="Inter" panose="02000503000000020004" pitchFamily="2" charset="0"/>
            </a:endParaRPr>
          </a:p>
          <a:p>
            <a:pPr marL="0" indent="0">
              <a:buNone/>
            </a:pPr>
            <a:endParaRPr lang="pt-BR" sz="2000" b="1" dirty="0">
              <a:latin typeface="Inter" panose="02000503000000020004" pitchFamily="2" charset="0"/>
              <a:ea typeface="Inter" panose="02000503000000020004" pitchFamily="2" charset="0"/>
            </a:endParaRPr>
          </a:p>
        </p:txBody>
      </p:sp>
      <p:sp>
        <p:nvSpPr>
          <p:cNvPr id="5" name="Retângulo: Cantos Arredondados 4">
            <a:extLst>
              <a:ext uri="{FF2B5EF4-FFF2-40B4-BE49-F238E27FC236}">
                <a16:creationId xmlns:a16="http://schemas.microsoft.com/office/drawing/2014/main" id="{0BD0C9DA-6B3B-5973-0A2C-14BE8A09A63B}"/>
              </a:ext>
            </a:extLst>
          </p:cNvPr>
          <p:cNvSpPr/>
          <p:nvPr/>
        </p:nvSpPr>
        <p:spPr>
          <a:xfrm>
            <a:off x="914401" y="365125"/>
            <a:ext cx="1619250" cy="116378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graphicFrame>
        <p:nvGraphicFramePr>
          <p:cNvPr id="8" name="Diagrama 7">
            <a:extLst>
              <a:ext uri="{FF2B5EF4-FFF2-40B4-BE49-F238E27FC236}">
                <a16:creationId xmlns:a16="http://schemas.microsoft.com/office/drawing/2014/main" id="{3A3B8DAB-19AE-925E-7A4A-3F21E34B8350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467851334"/>
              </p:ext>
            </p:extLst>
          </p:nvPr>
        </p:nvGraphicFramePr>
        <p:xfrm>
          <a:off x="2032000" y="2898451"/>
          <a:ext cx="8128000" cy="3594424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pic>
        <p:nvPicPr>
          <p:cNvPr id="9" name="Imagem 8">
            <a:extLst>
              <a:ext uri="{FF2B5EF4-FFF2-40B4-BE49-F238E27FC236}">
                <a16:creationId xmlns:a16="http://schemas.microsoft.com/office/drawing/2014/main" id="{404BC878-2057-15A9-35F1-83025DE74981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393283" y="6062663"/>
            <a:ext cx="770792" cy="7707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1689353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CFD264-EF9B-9A5E-A3A4-5FF283DB5A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296D731-7E18-D533-8459-8A3246A288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8324850" cy="1325563"/>
          </a:xfrm>
        </p:spPr>
        <p:txBody>
          <a:bodyPr>
            <a:normAutofit/>
          </a:bodyPr>
          <a:lstStyle/>
          <a:p>
            <a:r>
              <a:rPr lang="pt-BR" sz="2800" b="1" dirty="0">
                <a:latin typeface="Inter" panose="02000503000000020004" pitchFamily="2" charset="0"/>
                <a:ea typeface="Inter" panose="02000503000000020004" pitchFamily="2" charset="0"/>
              </a:rPr>
              <a:t>Modelo da Solução</a:t>
            </a:r>
            <a:br>
              <a:rPr lang="pt-BR" sz="2800" b="1" dirty="0">
                <a:latin typeface="Inter" panose="02000503000000020004" pitchFamily="2" charset="0"/>
                <a:ea typeface="Inter" panose="02000503000000020004" pitchFamily="2" charset="0"/>
              </a:rPr>
            </a:br>
            <a:r>
              <a:rPr lang="pt-BR" sz="2800" b="1" dirty="0">
                <a:latin typeface="Inter" panose="02000503000000020004" pitchFamily="2" charset="0"/>
                <a:ea typeface="Inter" panose="02000503000000020004" pitchFamily="2" charset="0"/>
              </a:rPr>
              <a:t>Tecnologia Robusta e Flexível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7159C374-1A0C-1465-9CAD-8FFADDE524D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5"/>
            <a:ext cx="11039475" cy="770793"/>
          </a:xfrm>
        </p:spPr>
        <p:txBody>
          <a:bodyPr>
            <a:normAutofit/>
          </a:bodyPr>
          <a:lstStyle/>
          <a:p>
            <a:pPr marL="0" indent="0" algn="just">
              <a:buNone/>
            </a:pPr>
            <a:r>
              <a:rPr lang="pt-BR" sz="2000" dirty="0">
                <a:latin typeface="Inter" panose="02000503000000020004" pitchFamily="2" charset="0"/>
                <a:ea typeface="Inter" panose="02000503000000020004" pitchFamily="2" charset="0"/>
              </a:rPr>
              <a:t>Nossa solução foi desenhada sobre uma arquitetura de API moderna, segura e altamente escalável, garantindo performance e flexibilidade para qualquer cenário de negócio.</a:t>
            </a:r>
          </a:p>
          <a:p>
            <a:pPr marL="0" indent="0" algn="just">
              <a:buNone/>
            </a:pPr>
            <a:endParaRPr lang="pt-BR" sz="2000" dirty="0">
              <a:latin typeface="Inter" panose="02000503000000020004" pitchFamily="2" charset="0"/>
              <a:ea typeface="Inter" panose="02000503000000020004" pitchFamily="2" charset="0"/>
            </a:endParaRPr>
          </a:p>
          <a:p>
            <a:pPr marL="0" indent="0" algn="just">
              <a:buNone/>
            </a:pPr>
            <a:endParaRPr lang="pt-BR" sz="2000" b="1" dirty="0">
              <a:latin typeface="Inter" panose="02000503000000020004" pitchFamily="2" charset="0"/>
              <a:ea typeface="Inter" panose="02000503000000020004" pitchFamily="2" charset="0"/>
            </a:endParaRPr>
          </a:p>
        </p:txBody>
      </p:sp>
      <p:sp>
        <p:nvSpPr>
          <p:cNvPr id="5" name="Retângulo: Cantos Arredondados 4">
            <a:extLst>
              <a:ext uri="{FF2B5EF4-FFF2-40B4-BE49-F238E27FC236}">
                <a16:creationId xmlns:a16="http://schemas.microsoft.com/office/drawing/2014/main" id="{CCA095A9-09B6-25C8-7253-D48B71C62340}"/>
              </a:ext>
            </a:extLst>
          </p:cNvPr>
          <p:cNvSpPr/>
          <p:nvPr/>
        </p:nvSpPr>
        <p:spPr>
          <a:xfrm>
            <a:off x="914401" y="365125"/>
            <a:ext cx="1619250" cy="116378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pic>
        <p:nvPicPr>
          <p:cNvPr id="9" name="Imagem 8">
            <a:extLst>
              <a:ext uri="{FF2B5EF4-FFF2-40B4-BE49-F238E27FC236}">
                <a16:creationId xmlns:a16="http://schemas.microsoft.com/office/drawing/2014/main" id="{8F83B22F-7494-D548-CC86-1D1064E955F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393283" y="6062663"/>
            <a:ext cx="770792" cy="770792"/>
          </a:xfrm>
          <a:prstGeom prst="rect">
            <a:avLst/>
          </a:prstGeom>
        </p:spPr>
      </p:pic>
      <p:pic>
        <p:nvPicPr>
          <p:cNvPr id="10" name="Imagem 9">
            <a:extLst>
              <a:ext uri="{FF2B5EF4-FFF2-40B4-BE49-F238E27FC236}">
                <a16:creationId xmlns:a16="http://schemas.microsoft.com/office/drawing/2014/main" id="{14923BF0-401B-AF6F-21F0-1587AABF3F5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80741" y="3026630"/>
            <a:ext cx="4344384" cy="2873868"/>
          </a:xfrm>
          <a:prstGeom prst="rect">
            <a:avLst/>
          </a:prstGeom>
        </p:spPr>
      </p:pic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F0566BAF-A812-5C1E-16CF-FD88D1533525}"/>
              </a:ext>
            </a:extLst>
          </p:cNvPr>
          <p:cNvSpPr txBox="1">
            <a:spLocks/>
          </p:cNvSpPr>
          <p:nvPr/>
        </p:nvSpPr>
        <p:spPr>
          <a:xfrm>
            <a:off x="838199" y="2956835"/>
            <a:ext cx="5756154" cy="3331309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28600" marR="0" lvl="0" indent="-228600" algn="l" defTabSz="914400" rtl="0" eaLnBrk="1" fontAlgn="auto" latinLnBrk="0" hangingPunct="1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pt-BR" sz="12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</a:rPr>
              <a:t>💡</a:t>
            </a:r>
            <a:r>
              <a:rPr kumimoji="0" lang="pt-BR" sz="1200" b="1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</a:rPr>
              <a:t>Solução Técnica.</a:t>
            </a:r>
          </a:p>
          <a:p>
            <a:pPr marL="685800" marR="0" lvl="1" indent="-228600" algn="l" defTabSz="914400" rtl="0" eaLnBrk="1" fontAlgn="auto" latinLnBrk="0" hangingPunct="1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Tx/>
              <a:buSzTx/>
              <a:buFont typeface="Courier New,monospace" panose="020B0604020202020204" pitchFamily="34" charset="0"/>
              <a:buChar char="o"/>
              <a:tabLst/>
              <a:defRPr/>
            </a:pPr>
            <a:r>
              <a:rPr kumimoji="0" lang="pt-BR" sz="12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</a:rPr>
              <a:t>API desenvolvida em Python.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effectLst/>
              <a:uLnTx/>
              <a:uFillTx/>
              <a:latin typeface="Inter" panose="02000503000000020004" pitchFamily="2" charset="0"/>
              <a:ea typeface="Inter" panose="02000503000000020004" pitchFamily="2" charset="0"/>
            </a:endParaRPr>
          </a:p>
          <a:p>
            <a:pPr marL="685800" marR="0" lvl="1" indent="-228600" algn="l" defTabSz="914400" rtl="0" eaLnBrk="1" fontAlgn="auto" latinLnBrk="0" hangingPunct="1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Tx/>
              <a:buSzTx/>
              <a:buFont typeface="Courier New,monospace" panose="020B0604020202020204" pitchFamily="34" charset="0"/>
              <a:buChar char="o"/>
              <a:tabLst/>
              <a:defRPr/>
            </a:pPr>
            <a:r>
              <a:rPr kumimoji="0" lang="pt-BR" sz="12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</a:rPr>
              <a:t>Integração com IA treinada .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effectLst/>
              <a:uLnTx/>
              <a:uFillTx/>
              <a:latin typeface="Inter" panose="02000503000000020004" pitchFamily="2" charset="0"/>
              <a:ea typeface="Inter" panose="02000503000000020004" pitchFamily="2" charset="0"/>
            </a:endParaRPr>
          </a:p>
          <a:p>
            <a:pPr marL="228600" marR="0" lvl="0" indent="-228600" algn="l" defTabSz="914400" rtl="0" eaLnBrk="1" fontAlgn="auto" latinLnBrk="0" hangingPunct="1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pt-BR" sz="12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</a:rPr>
              <a:t>🔒</a:t>
            </a:r>
            <a:r>
              <a:rPr kumimoji="0" lang="pt-BR" sz="1200" b="1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</a:rPr>
              <a:t>Segurança e Escalabilidade (1)</a:t>
            </a:r>
            <a:endParaRPr kumimoji="0" lang="pt-BR" sz="1200" b="0" i="0" u="none" strike="noStrike" kern="1200" cap="none" spc="0" normalizeH="0" baseline="0" noProof="0" dirty="0">
              <a:ln>
                <a:noFill/>
              </a:ln>
              <a:effectLst/>
              <a:uLnTx/>
              <a:uFillTx/>
              <a:latin typeface="Inter" panose="02000503000000020004" pitchFamily="2" charset="0"/>
              <a:ea typeface="Inter" panose="02000503000000020004" pitchFamily="2" charset="0"/>
            </a:endParaRPr>
          </a:p>
          <a:p>
            <a:pPr marL="685800" marR="0" lvl="1" indent="-228600" algn="l" defTabSz="914400" rtl="0" eaLnBrk="1" fontAlgn="auto" latinLnBrk="0" hangingPunct="1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Tx/>
              <a:buSzTx/>
              <a:buFont typeface="Courier New,monospace" panose="020B0604020202020204" pitchFamily="34" charset="0"/>
              <a:buChar char="o"/>
              <a:tabLst/>
              <a:defRPr/>
            </a:pPr>
            <a:r>
              <a:rPr kumimoji="0" lang="pt-BR" sz="12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</a:rPr>
              <a:t>Dados armazenados com criptografia.</a:t>
            </a:r>
          </a:p>
          <a:p>
            <a:pPr marL="685800" marR="0" lvl="1" indent="-228600" algn="l" defTabSz="914400" rtl="0" eaLnBrk="1" fontAlgn="auto" latinLnBrk="0" hangingPunct="1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Tx/>
              <a:buSzTx/>
              <a:buFont typeface="Courier New,monospace" panose="020B0604020202020204" pitchFamily="34" charset="0"/>
              <a:buChar char="o"/>
              <a:tabLst/>
              <a:defRPr/>
            </a:pPr>
            <a:r>
              <a:rPr kumimoji="0" lang="pt-BR" sz="12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</a:rPr>
              <a:t>Integração com várias plataformas do mercado.</a:t>
            </a:r>
          </a:p>
          <a:p>
            <a:pPr marL="685800" marR="0" lvl="1" indent="-228600" algn="l" defTabSz="914400" rtl="0" eaLnBrk="1" fontAlgn="auto" latinLnBrk="0" hangingPunct="1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Tx/>
              <a:buSzTx/>
              <a:buFont typeface="Courier New,monospace" panose="020B0604020202020204" pitchFamily="34" charset="0"/>
              <a:buChar char="o"/>
              <a:tabLst/>
              <a:defRPr/>
            </a:pPr>
            <a:r>
              <a:rPr kumimoji="0" lang="pt-BR" sz="12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</a:rPr>
              <a:t>Escalável para múltiplos usuários simultâneos.</a:t>
            </a:r>
          </a:p>
          <a:p>
            <a:pPr marL="228600" marR="0" lvl="0" indent="-228600" algn="l" defTabSz="914400" rtl="0" eaLnBrk="1" fontAlgn="auto" latinLnBrk="0" hangingPunct="1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pt-BR" sz="1200" b="1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</a:rPr>
              <a:t>💸 Modelo de Negócio (1)</a:t>
            </a:r>
            <a:endParaRPr kumimoji="0" lang="pt-BR" sz="1200" b="0" i="0" u="none" strike="noStrike" kern="1200" cap="none" spc="0" normalizeH="0" baseline="0" noProof="0" dirty="0">
              <a:ln>
                <a:noFill/>
              </a:ln>
              <a:effectLst/>
              <a:uLnTx/>
              <a:uFillTx/>
              <a:latin typeface="Inter" panose="02000503000000020004" pitchFamily="2" charset="0"/>
              <a:ea typeface="Inter" panose="02000503000000020004" pitchFamily="2" charset="0"/>
            </a:endParaRPr>
          </a:p>
          <a:p>
            <a:pPr marL="685800" marR="0" lvl="1" indent="-228600" algn="l" defTabSz="914400" rtl="0" eaLnBrk="1" fontAlgn="auto" latinLnBrk="0" hangingPunct="1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Tx/>
              <a:buSzTx/>
              <a:buFont typeface="Courier New,monospace" panose="020B0604020202020204" pitchFamily="34" charset="0"/>
              <a:buChar char="o"/>
              <a:tabLst/>
              <a:defRPr/>
            </a:pPr>
            <a:r>
              <a:rPr kumimoji="0" lang="pt-BR" sz="12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</a:rPr>
              <a:t>Licença SaaS mensal por usuário ativo.</a:t>
            </a:r>
          </a:p>
          <a:p>
            <a:pPr marL="685800" marR="0" lvl="1" indent="-228600" algn="l" defTabSz="914400" rtl="0" eaLnBrk="1" fontAlgn="auto" latinLnBrk="0" hangingPunct="1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Tx/>
              <a:buSzTx/>
              <a:buFont typeface="Courier New,monospace" panose="020B0604020202020204" pitchFamily="34" charset="0"/>
              <a:buChar char="o"/>
              <a:tabLst/>
              <a:defRPr/>
            </a:pPr>
            <a:r>
              <a:rPr kumimoji="0" lang="pt-BR" sz="12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</a:rPr>
              <a:t>Planos por volume de notas processadas.</a:t>
            </a:r>
          </a:p>
          <a:p>
            <a:pPr marL="685800" marR="0" lvl="1" indent="-228600" algn="l" defTabSz="914400" rtl="0" eaLnBrk="1" fontAlgn="auto" latinLnBrk="0" hangingPunct="1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Tx/>
              <a:buSzTx/>
              <a:buFont typeface="Courier New,monospace" panose="020B0604020202020204" pitchFamily="34" charset="0"/>
              <a:buChar char="o"/>
              <a:tabLst/>
              <a:defRPr/>
            </a:pPr>
            <a:r>
              <a:rPr kumimoji="0" lang="pt-BR" sz="12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</a:rPr>
              <a:t>Pacotes empresariais customizados para grandes organizações.</a:t>
            </a:r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976A3C89-E7AD-1AC4-218F-BE20EC09820A}"/>
              </a:ext>
            </a:extLst>
          </p:cNvPr>
          <p:cNvSpPr txBox="1">
            <a:spLocks/>
          </p:cNvSpPr>
          <p:nvPr/>
        </p:nvSpPr>
        <p:spPr>
          <a:xfrm>
            <a:off x="914401" y="6420909"/>
            <a:ext cx="3874167" cy="412546"/>
          </a:xfrm>
          <a:prstGeom prst="rect">
            <a:avLst/>
          </a:prstGeom>
        </p:spPr>
        <p:txBody>
          <a:bodyPr vert="horz" lIns="91440" tIns="45720" rIns="91440" bIns="45720" rtlCol="0" anchor="t">
            <a:normAutofit fontScale="925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None/>
              <a:tabLst/>
              <a:defRPr/>
            </a:pPr>
            <a:r>
              <a:rPr lang="pt-BR" sz="1200" b="1" dirty="0">
                <a:latin typeface="Inter" panose="02000503000000020004" pitchFamily="2" charset="0"/>
                <a:ea typeface="Inter" panose="02000503000000020004" pitchFamily="2" charset="0"/>
              </a:rPr>
              <a:t> (1) Notas da Versão – Entregue na versão premium</a:t>
            </a:r>
            <a:r>
              <a:rPr kumimoji="0" lang="pt-BR" sz="1200" b="1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42802419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72E8B7-B221-7C7D-BAB3-BBFDF622A2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DA0FE05-6253-671E-79A5-7103EFA04C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8324850" cy="1325563"/>
          </a:xfrm>
        </p:spPr>
        <p:txBody>
          <a:bodyPr>
            <a:normAutofit/>
          </a:bodyPr>
          <a:lstStyle/>
          <a:p>
            <a:r>
              <a:rPr lang="pt-BR" sz="2800" b="1" dirty="0">
                <a:latin typeface="Inter" panose="02000503000000020004" pitchFamily="2" charset="0"/>
                <a:ea typeface="Inter" panose="02000503000000020004" pitchFamily="2" charset="0"/>
              </a:rPr>
              <a:t>Modelo da Solução</a:t>
            </a:r>
            <a:br>
              <a:rPr lang="pt-BR" sz="2800" b="1" dirty="0">
                <a:latin typeface="Inter" panose="02000503000000020004" pitchFamily="2" charset="0"/>
                <a:ea typeface="Inter" panose="02000503000000020004" pitchFamily="2" charset="0"/>
              </a:rPr>
            </a:br>
            <a:r>
              <a:rPr lang="pt-BR" sz="2800" b="1" dirty="0">
                <a:latin typeface="Inter" panose="02000503000000020004" pitchFamily="2" charset="0"/>
                <a:ea typeface="Inter" panose="02000503000000020004" pitchFamily="2" charset="0"/>
              </a:rPr>
              <a:t>Impacto e Benefício</a:t>
            </a:r>
          </a:p>
        </p:txBody>
      </p:sp>
      <p:sp>
        <p:nvSpPr>
          <p:cNvPr id="5" name="Retângulo: Cantos Arredondados 4">
            <a:extLst>
              <a:ext uri="{FF2B5EF4-FFF2-40B4-BE49-F238E27FC236}">
                <a16:creationId xmlns:a16="http://schemas.microsoft.com/office/drawing/2014/main" id="{F69932B7-0204-BA04-A1FC-190F72F44E56}"/>
              </a:ext>
            </a:extLst>
          </p:cNvPr>
          <p:cNvSpPr/>
          <p:nvPr/>
        </p:nvSpPr>
        <p:spPr>
          <a:xfrm>
            <a:off x="914401" y="365125"/>
            <a:ext cx="1619250" cy="116378"/>
          </a:xfrm>
          <a:prstGeom prst="roundRect">
            <a:avLst>
              <a:gd name="adj" fmla="val 50000"/>
            </a:avLst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pic>
        <p:nvPicPr>
          <p:cNvPr id="9" name="Imagem 8">
            <a:extLst>
              <a:ext uri="{FF2B5EF4-FFF2-40B4-BE49-F238E27FC236}">
                <a16:creationId xmlns:a16="http://schemas.microsoft.com/office/drawing/2014/main" id="{C8FBA0E4-C621-9468-983C-2D9AE380D55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393283" y="6062663"/>
            <a:ext cx="770792" cy="770792"/>
          </a:xfrm>
          <a:prstGeom prst="rect">
            <a:avLst/>
          </a:prstGeom>
        </p:spPr>
      </p:pic>
      <p:sp>
        <p:nvSpPr>
          <p:cNvPr id="11" name="Content Placeholder 2">
            <a:extLst>
              <a:ext uri="{FF2B5EF4-FFF2-40B4-BE49-F238E27FC236}">
                <a16:creationId xmlns:a16="http://schemas.microsoft.com/office/drawing/2014/main" id="{42CF3FF0-21CF-527C-8FE5-01031197F8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4401" y="2389766"/>
            <a:ext cx="10485048" cy="3743180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r>
              <a:rPr lang="pt-BR" sz="1400" b="1" dirty="0">
                <a:latin typeface="Inter" panose="02000503000000020004" pitchFamily="2" charset="0"/>
                <a:ea typeface="Inter" panose="02000503000000020004" pitchFamily="2" charset="0"/>
              </a:rPr>
              <a:t>🎯 Benefícios Diretos.</a:t>
            </a:r>
            <a:endParaRPr lang="pt-BR" sz="1400" dirty="0">
              <a:latin typeface="Inter" panose="02000503000000020004" pitchFamily="2" charset="0"/>
              <a:ea typeface="Inter" panose="02000503000000020004" pitchFamily="2" charset="0"/>
            </a:endParaRPr>
          </a:p>
          <a:p>
            <a:pPr lvl="1">
              <a:buFont typeface="Courier New" panose="020B0604020202020204" pitchFamily="34" charset="0"/>
              <a:buChar char="o"/>
            </a:pPr>
            <a:r>
              <a:rPr lang="pt-BR" sz="1400" b="1" dirty="0">
                <a:latin typeface="Inter" panose="02000503000000020004" pitchFamily="2" charset="0"/>
                <a:ea typeface="Inter" panose="02000503000000020004" pitchFamily="2" charset="0"/>
                <a:cs typeface="+mn-lt"/>
              </a:rPr>
              <a:t>Para os usuários:</a:t>
            </a:r>
            <a:endParaRPr lang="pt-BR" sz="1400" dirty="0">
              <a:latin typeface="Inter" panose="02000503000000020004" pitchFamily="2" charset="0"/>
              <a:ea typeface="Inter" panose="02000503000000020004" pitchFamily="2" charset="0"/>
            </a:endParaRPr>
          </a:p>
          <a:p>
            <a:pPr lvl="2">
              <a:buFont typeface="Wingdings" panose="020B0604020202020204" pitchFamily="34" charset="0"/>
              <a:buChar char="§"/>
            </a:pPr>
            <a:r>
              <a:rPr lang="pt-BR" sz="1400" dirty="0">
                <a:latin typeface="Inter" panose="02000503000000020004" pitchFamily="2" charset="0"/>
                <a:ea typeface="Inter" panose="02000503000000020004" pitchFamily="2" charset="0"/>
                <a:cs typeface="+mn-lt"/>
              </a:rPr>
              <a:t>Fim da digitação manual de notas.</a:t>
            </a:r>
          </a:p>
          <a:p>
            <a:pPr lvl="2">
              <a:buFont typeface="Wingdings" panose="020B0604020202020204" pitchFamily="34" charset="0"/>
              <a:buChar char="§"/>
            </a:pPr>
            <a:r>
              <a:rPr lang="pt-BR" sz="1400" dirty="0">
                <a:latin typeface="Inter" panose="02000503000000020004" pitchFamily="2" charset="0"/>
                <a:ea typeface="Inter" panose="02000503000000020004" pitchFamily="2" charset="0"/>
                <a:cs typeface="+mn-lt"/>
              </a:rPr>
              <a:t>Processo rápido, sem retrabalho.</a:t>
            </a:r>
            <a:endParaRPr lang="pt-BR" sz="1400" dirty="0">
              <a:latin typeface="Inter" panose="02000503000000020004" pitchFamily="2" charset="0"/>
              <a:ea typeface="Inter" panose="02000503000000020004" pitchFamily="2" charset="0"/>
            </a:endParaRPr>
          </a:p>
          <a:p>
            <a:pPr lvl="2">
              <a:buFont typeface="Wingdings" panose="020B0604020202020204" pitchFamily="34" charset="0"/>
              <a:buChar char="§"/>
            </a:pPr>
            <a:r>
              <a:rPr lang="pt-BR" sz="1400" dirty="0">
                <a:latin typeface="Inter" panose="02000503000000020004" pitchFamily="2" charset="0"/>
                <a:ea typeface="Inter" panose="02000503000000020004" pitchFamily="2" charset="0"/>
                <a:cs typeface="+mn-lt"/>
              </a:rPr>
              <a:t>Feedback automático de erros.</a:t>
            </a:r>
            <a:endParaRPr lang="pt-BR" sz="1400" dirty="0">
              <a:latin typeface="Inter" panose="02000503000000020004" pitchFamily="2" charset="0"/>
              <a:ea typeface="Inter" panose="02000503000000020004" pitchFamily="2" charset="0"/>
            </a:endParaRPr>
          </a:p>
          <a:p>
            <a:pPr lvl="1">
              <a:buFont typeface="Courier New" panose="020B0604020202020204" pitchFamily="34" charset="0"/>
              <a:buChar char="o"/>
            </a:pPr>
            <a:r>
              <a:rPr lang="pt-BR" sz="1400" b="1" dirty="0">
                <a:latin typeface="Inter" panose="02000503000000020004" pitchFamily="2" charset="0"/>
                <a:ea typeface="Inter" panose="02000503000000020004" pitchFamily="2" charset="0"/>
                <a:cs typeface="+mn-lt"/>
              </a:rPr>
              <a:t>Para a empresa:</a:t>
            </a:r>
            <a:endParaRPr lang="pt-BR" sz="1400" dirty="0">
              <a:latin typeface="Inter" panose="02000503000000020004" pitchFamily="2" charset="0"/>
              <a:ea typeface="Inter" panose="02000503000000020004" pitchFamily="2" charset="0"/>
            </a:endParaRPr>
          </a:p>
          <a:p>
            <a:pPr lvl="2">
              <a:buFont typeface="Wingdings" panose="020B0604020202020204" pitchFamily="34" charset="0"/>
              <a:buChar char="§"/>
            </a:pPr>
            <a:r>
              <a:rPr lang="pt-BR" sz="1400" dirty="0">
                <a:latin typeface="Inter" panose="02000503000000020004" pitchFamily="2" charset="0"/>
                <a:ea typeface="Inter" panose="02000503000000020004" pitchFamily="2" charset="0"/>
                <a:cs typeface="+mn-lt"/>
              </a:rPr>
              <a:t>Menos perdas com reembolsos incorretos.</a:t>
            </a:r>
            <a:endParaRPr lang="pt-BR" sz="1400" dirty="0">
              <a:latin typeface="Inter" panose="02000503000000020004" pitchFamily="2" charset="0"/>
              <a:ea typeface="Inter" panose="02000503000000020004" pitchFamily="2" charset="0"/>
            </a:endParaRPr>
          </a:p>
          <a:p>
            <a:pPr lvl="2">
              <a:buFont typeface="Wingdings" panose="020B0604020202020204" pitchFamily="34" charset="0"/>
              <a:buChar char="§"/>
            </a:pPr>
            <a:r>
              <a:rPr lang="pt-BR" sz="1400" dirty="0">
                <a:latin typeface="Inter" panose="02000503000000020004" pitchFamily="2" charset="0"/>
                <a:ea typeface="Inter" panose="02000503000000020004" pitchFamily="2" charset="0"/>
                <a:cs typeface="+mn-lt"/>
              </a:rPr>
              <a:t>Processo Auditável.</a:t>
            </a:r>
            <a:endParaRPr lang="pt-BR" sz="1400" dirty="0">
              <a:latin typeface="Inter" panose="02000503000000020004" pitchFamily="2" charset="0"/>
              <a:ea typeface="Inter" panose="02000503000000020004" pitchFamily="2" charset="0"/>
            </a:endParaRPr>
          </a:p>
          <a:p>
            <a:pPr lvl="2">
              <a:buFont typeface="Wingdings" panose="020B0604020202020204" pitchFamily="34" charset="0"/>
              <a:buChar char="§"/>
            </a:pPr>
            <a:r>
              <a:rPr lang="pt-BR" sz="1400" dirty="0">
                <a:latin typeface="Inter" panose="02000503000000020004" pitchFamily="2" charset="0"/>
                <a:ea typeface="Inter" panose="02000503000000020004" pitchFamily="2" charset="0"/>
                <a:cs typeface="+mn-lt"/>
              </a:rPr>
              <a:t>Dados estruturados prontos para BI e compliance.</a:t>
            </a:r>
            <a:endParaRPr lang="pt-BR" sz="1400" dirty="0">
              <a:latin typeface="Inter" panose="02000503000000020004" pitchFamily="2" charset="0"/>
              <a:ea typeface="Inter" panose="02000503000000020004" pitchFamily="2" charset="0"/>
            </a:endParaRPr>
          </a:p>
          <a:p>
            <a:pPr marL="0" indent="0">
              <a:buNone/>
            </a:pPr>
            <a:endParaRPr lang="pt-BR" sz="1400" b="1" dirty="0">
              <a:latin typeface="Inter" panose="02000503000000020004" pitchFamily="2" charset="0"/>
              <a:ea typeface="Inter" panose="02000503000000020004" pitchFamily="2" charset="0"/>
            </a:endParaRPr>
          </a:p>
          <a:p>
            <a:pPr marL="0" indent="0">
              <a:buNone/>
            </a:pPr>
            <a:r>
              <a:rPr lang="pt-BR" sz="1400" b="1" dirty="0">
                <a:latin typeface="Inter" panose="02000503000000020004" pitchFamily="2" charset="0"/>
                <a:ea typeface="Inter" panose="02000503000000020004" pitchFamily="2" charset="0"/>
              </a:rPr>
              <a:t>📈 Tração Inicial / Validação.</a:t>
            </a:r>
            <a:endParaRPr lang="pt-BR" sz="1400" dirty="0">
              <a:latin typeface="Inter" panose="02000503000000020004" pitchFamily="2" charset="0"/>
              <a:ea typeface="Inter" panose="02000503000000020004" pitchFamily="2" charset="0"/>
            </a:endParaRPr>
          </a:p>
          <a:p>
            <a:pPr lvl="1">
              <a:buFont typeface="Courier New" panose="020B0604020202020204" pitchFamily="34" charset="0"/>
              <a:buChar char="o"/>
            </a:pPr>
            <a:r>
              <a:rPr lang="pt-BR" sz="1400" dirty="0">
                <a:latin typeface="Inter" panose="02000503000000020004" pitchFamily="2" charset="0"/>
                <a:ea typeface="Inter" panose="02000503000000020004" pitchFamily="2" charset="0"/>
                <a:cs typeface="+mn-lt"/>
              </a:rPr>
              <a:t>👥 </a:t>
            </a:r>
            <a:r>
              <a:rPr lang="pt-BR" sz="1400" b="1" dirty="0">
                <a:latin typeface="Inter" panose="02000503000000020004" pitchFamily="2" charset="0"/>
                <a:ea typeface="Inter" panose="02000503000000020004" pitchFamily="2" charset="0"/>
                <a:cs typeface="+mn-lt"/>
              </a:rPr>
              <a:t>2 empresas em fase piloto</a:t>
            </a:r>
            <a:r>
              <a:rPr lang="pt-BR" sz="1400" dirty="0">
                <a:latin typeface="Inter" panose="02000503000000020004" pitchFamily="2" charset="0"/>
                <a:ea typeface="Inter" panose="02000503000000020004" pitchFamily="2" charset="0"/>
                <a:cs typeface="+mn-lt"/>
              </a:rPr>
              <a:t> com mais de </a:t>
            </a:r>
            <a:r>
              <a:rPr lang="pt-BR" sz="1400" b="1" dirty="0">
                <a:latin typeface="Inter" panose="02000503000000020004" pitchFamily="2" charset="0"/>
                <a:ea typeface="Inter" panose="02000503000000020004" pitchFamily="2" charset="0"/>
                <a:cs typeface="+mn-lt"/>
              </a:rPr>
              <a:t>10.000 notas processadas</a:t>
            </a:r>
            <a:r>
              <a:rPr lang="pt-BR" sz="1400" dirty="0">
                <a:latin typeface="Inter" panose="02000503000000020004" pitchFamily="2" charset="0"/>
                <a:ea typeface="Inter" panose="02000503000000020004" pitchFamily="2" charset="0"/>
                <a:cs typeface="+mn-lt"/>
              </a:rPr>
              <a:t> em 30 dias.</a:t>
            </a:r>
            <a:endParaRPr lang="pt-BR" sz="1400" dirty="0">
              <a:latin typeface="Inter" panose="02000503000000020004" pitchFamily="2" charset="0"/>
              <a:ea typeface="Inter" panose="02000503000000020004" pitchFamily="2" charset="0"/>
            </a:endParaRPr>
          </a:p>
          <a:p>
            <a:pPr lvl="1">
              <a:buFont typeface="Courier New" panose="020B0604020202020204" pitchFamily="34" charset="0"/>
              <a:buChar char="o"/>
            </a:pPr>
            <a:r>
              <a:rPr lang="pt-BR" sz="1400" dirty="0">
                <a:latin typeface="Inter" panose="02000503000000020004" pitchFamily="2" charset="0"/>
                <a:ea typeface="Inter" panose="02000503000000020004" pitchFamily="2" charset="0"/>
                <a:cs typeface="+mn-lt"/>
              </a:rPr>
              <a:t>💬 Feedback positivo: “Economizamos 3 dias de trabalho por mês só no financeiro.”</a:t>
            </a:r>
            <a:endParaRPr lang="pt-BR" sz="1400" dirty="0">
              <a:latin typeface="Inter" panose="02000503000000020004" pitchFamily="2" charset="0"/>
              <a:ea typeface="Inter" panose="02000503000000020004" pitchFamily="2" charset="0"/>
            </a:endParaRPr>
          </a:p>
        </p:txBody>
      </p:sp>
      <p:pic>
        <p:nvPicPr>
          <p:cNvPr id="8" name="Imagem 7">
            <a:extLst>
              <a:ext uri="{FF2B5EF4-FFF2-40B4-BE49-F238E27FC236}">
                <a16:creationId xmlns:a16="http://schemas.microsoft.com/office/drawing/2014/main" id="{C0980247-47FE-6202-4D71-4D51B292CAA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67500" y="2063383"/>
            <a:ext cx="4352925" cy="25369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4585767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6AE5EB-7119-AA02-66F0-F061FB5053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348B0F3-F639-F27C-7FF6-089E651952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7304314" cy="1325563"/>
          </a:xfrm>
        </p:spPr>
        <p:txBody>
          <a:bodyPr>
            <a:normAutofit/>
          </a:bodyPr>
          <a:lstStyle/>
          <a:p>
            <a:r>
              <a:rPr lang="pt-BR" sz="3200" b="1" dirty="0">
                <a:latin typeface="Inter" panose="02000503000000020004" pitchFamily="2" charset="0"/>
                <a:ea typeface="Inter" panose="02000503000000020004" pitchFamily="2" charset="0"/>
              </a:rPr>
              <a:t>Pronto para eliminar a burocracia?</a:t>
            </a:r>
            <a:br>
              <a:rPr lang="pt-BR" sz="3200" b="1" dirty="0">
                <a:latin typeface="Inter" panose="02000503000000020004" pitchFamily="2" charset="0"/>
                <a:ea typeface="Inter" panose="02000503000000020004" pitchFamily="2" charset="0"/>
              </a:rPr>
            </a:br>
            <a:endParaRPr lang="pt-BR" sz="3200" b="1" dirty="0">
              <a:latin typeface="Inter" panose="02000503000000020004" pitchFamily="2" charset="0"/>
              <a:ea typeface="Inter" panose="02000503000000020004" pitchFamily="2" charset="0"/>
            </a:endParaRP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EDDB40FE-149E-5024-4F68-7477F7FD70D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93593"/>
            <a:ext cx="9595338" cy="160337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pt-BR" sz="2000" dirty="0">
                <a:latin typeface="Inter" panose="02000503000000020004" pitchFamily="2" charset="0"/>
                <a:ea typeface="Inter" panose="02000503000000020004" pitchFamily="2" charset="0"/>
              </a:rPr>
              <a:t>Vamos agendar uma demonstração de 5 minutos e mostraremos na prática como podemos devolver horas de produtividade para sua equipe e garantir 100% de precisão nos seus reembolsos.</a:t>
            </a:r>
          </a:p>
          <a:p>
            <a:pPr marL="0" indent="0">
              <a:buNone/>
            </a:pPr>
            <a:endParaRPr lang="pt-BR" sz="2000" dirty="0">
              <a:latin typeface="Inter" panose="02000503000000020004" pitchFamily="2" charset="0"/>
              <a:ea typeface="Inter" panose="02000503000000020004" pitchFamily="2" charset="0"/>
            </a:endParaRPr>
          </a:p>
          <a:p>
            <a:pPr marL="0" indent="0">
              <a:buNone/>
            </a:pPr>
            <a:endParaRPr lang="pt-BR" sz="2000" b="1" dirty="0">
              <a:latin typeface="Inter" panose="02000503000000020004" pitchFamily="2" charset="0"/>
              <a:ea typeface="Inter" panose="02000503000000020004" pitchFamily="2" charset="0"/>
            </a:endParaRPr>
          </a:p>
        </p:txBody>
      </p:sp>
      <p:sp>
        <p:nvSpPr>
          <p:cNvPr id="5" name="Retângulo: Cantos Arredondados 4">
            <a:extLst>
              <a:ext uri="{FF2B5EF4-FFF2-40B4-BE49-F238E27FC236}">
                <a16:creationId xmlns:a16="http://schemas.microsoft.com/office/drawing/2014/main" id="{DC7D3804-69BD-C38F-D3B7-CC391487A918}"/>
              </a:ext>
            </a:extLst>
          </p:cNvPr>
          <p:cNvSpPr/>
          <p:nvPr/>
        </p:nvSpPr>
        <p:spPr>
          <a:xfrm>
            <a:off x="914401" y="365125"/>
            <a:ext cx="1619250" cy="116378"/>
          </a:xfrm>
          <a:prstGeom prst="roundRect">
            <a:avLst>
              <a:gd name="adj" fmla="val 50000"/>
            </a:avLst>
          </a:prstGeom>
          <a:solidFill>
            <a:srgbClr val="700D8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pic>
        <p:nvPicPr>
          <p:cNvPr id="9" name="Imagem 8">
            <a:extLst>
              <a:ext uri="{FF2B5EF4-FFF2-40B4-BE49-F238E27FC236}">
                <a16:creationId xmlns:a16="http://schemas.microsoft.com/office/drawing/2014/main" id="{473E974C-193D-940F-0EEF-67C8A7BCC09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03286" y="2932722"/>
            <a:ext cx="2585427" cy="2585427"/>
          </a:xfrm>
          <a:prstGeom prst="rect">
            <a:avLst/>
          </a:prstGeom>
        </p:spPr>
      </p:pic>
      <p:sp>
        <p:nvSpPr>
          <p:cNvPr id="6" name="CaixaDeTexto 5">
            <a:extLst>
              <a:ext uri="{FF2B5EF4-FFF2-40B4-BE49-F238E27FC236}">
                <a16:creationId xmlns:a16="http://schemas.microsoft.com/office/drawing/2014/main" id="{C760D1D7-3CF0-D0A8-1361-CCB9B8D99ECD}"/>
              </a:ext>
            </a:extLst>
          </p:cNvPr>
          <p:cNvSpPr txBox="1"/>
          <p:nvPr/>
        </p:nvSpPr>
        <p:spPr>
          <a:xfrm>
            <a:off x="4836411" y="5518149"/>
            <a:ext cx="257269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pt-BR" b="1" dirty="0">
                <a:solidFill>
                  <a:srgbClr val="700D81"/>
                </a:solidFill>
              </a:rPr>
              <a:t>contato@metamind.com</a:t>
            </a:r>
          </a:p>
        </p:txBody>
      </p:sp>
    </p:spTree>
    <p:extLst>
      <p:ext uri="{BB962C8B-B14F-4D97-AF65-F5344CB8AC3E}">
        <p14:creationId xmlns:p14="http://schemas.microsoft.com/office/powerpoint/2010/main" val="3108193212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1_Tema do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Escritório">
      <a:majorFont>
        <a:latin typeface="Aptos Display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ptos" panose="020B0004020202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Escritório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567</TotalTime>
  <Words>572</Words>
  <Application>Microsoft Office PowerPoint</Application>
  <PresentationFormat>Widescreen</PresentationFormat>
  <Paragraphs>55</Paragraphs>
  <Slides>7</Slides>
  <Notes>0</Notes>
  <HiddenSlides>0</HiddenSlides>
  <MMClips>0</MMClips>
  <ScaleCrop>false</ScaleCrop>
  <HeadingPairs>
    <vt:vector size="6" baseType="variant">
      <vt:variant>
        <vt:lpstr>Fontes usadas</vt:lpstr>
      </vt:variant>
      <vt:variant>
        <vt:i4>9</vt:i4>
      </vt:variant>
      <vt:variant>
        <vt:lpstr>Tema</vt:lpstr>
      </vt:variant>
      <vt:variant>
        <vt:i4>2</vt:i4>
      </vt:variant>
      <vt:variant>
        <vt:lpstr>Títulos de slides</vt:lpstr>
      </vt:variant>
      <vt:variant>
        <vt:i4>7</vt:i4>
      </vt:variant>
    </vt:vector>
  </HeadingPairs>
  <TitlesOfParts>
    <vt:vector size="18" baseType="lpstr">
      <vt:lpstr>Aptos</vt:lpstr>
      <vt:lpstr>Aptos Display</vt:lpstr>
      <vt:lpstr>Arial</vt:lpstr>
      <vt:lpstr>Calibri</vt:lpstr>
      <vt:lpstr>Calibri Light</vt:lpstr>
      <vt:lpstr>Courier New</vt:lpstr>
      <vt:lpstr>Courier New,monospace</vt:lpstr>
      <vt:lpstr>Inter</vt:lpstr>
      <vt:lpstr>Wingdings</vt:lpstr>
      <vt:lpstr>Tema do Office</vt:lpstr>
      <vt:lpstr>1_Tema do Office</vt:lpstr>
      <vt:lpstr>MetaMind AI Agents</vt:lpstr>
      <vt:lpstr>Problema O custo operacional oculto e riscos do processo manual</vt:lpstr>
      <vt:lpstr>Solução A inteligência que trabalha por você</vt:lpstr>
      <vt:lpstr>Mercado Um oceano azul de oportunidades</vt:lpstr>
      <vt:lpstr>Modelo da Solução Tecnologia Robusta e Flexível</vt:lpstr>
      <vt:lpstr>Modelo da Solução Impacto e Benefício</vt:lpstr>
      <vt:lpstr>Pronto para eliminar a burocracia? 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Douglas M Kondo</dc:creator>
  <cp:lastModifiedBy>Douglas M Kondo</cp:lastModifiedBy>
  <cp:revision>25</cp:revision>
  <dcterms:created xsi:type="dcterms:W3CDTF">2025-06-07T17:00:07Z</dcterms:created>
  <dcterms:modified xsi:type="dcterms:W3CDTF">2025-10-28T23:14:58Z</dcterms:modified>
</cp:coreProperties>
</file>